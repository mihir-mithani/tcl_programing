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82a3724bd_0_1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g3f82a3724bd_0_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969642224_1_1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969642224_1_1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69642224_1_17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969642224_1_1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82a3724bd_0_2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3f82a3724bd_0_2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82a3724bd_0_2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g3f82a3724bd_0_2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82a3724bd_0_5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3f82a3724bd_0_5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82a3724bd_0_5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g3f82a3724bd_0_5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82a3724bd_0_5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g3f82a3724bd_0_5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82a3724bd_0_5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g3f82a3724bd_0_5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f82a3724bd_0_5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4" name="Google Shape;304;g3f82a3724bd_0_5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82a3724bd_0_5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9" name="Google Shape;329;g3f82a3724bd_0_5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82a3724bd_0_5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4" name="Google Shape;354;g3f82a3724bd_0_5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f82a3724bd_0_5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9" name="Google Shape;379;g3f82a3724bd_0_5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82a3724bd_0_5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4" name="Google Shape;414;g3f82a3724bd_0_5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f82a3724bd_0_5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7" name="Google Shape;447;g3f82a3724bd_0_5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f82a3724bd_0_5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2" name="Google Shape;472;g3f82a3724bd_0_5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f82a3724bd_0_5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7" name="Google Shape;497;g3f82a3724bd_0_5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f82a3724bd_0_5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0" name="Google Shape;530;g3f82a3724bd_0_5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f82a3724bd_0_6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5" name="Google Shape;555;g3f82a3724bd_0_6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f82a3724bd_0_6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0" name="Google Shape;580;g3f82a3724bd_0_6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f969642224_1_2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3" name="Google Shape;613;g3f969642224_1_2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f969642224_1_2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8" name="Google Shape;638;g3f969642224_1_2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f969642224_1_2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1" name="Google Shape;671;g3f969642224_1_2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f969642224_1_2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8" name="Google Shape;678;g3f969642224_1_2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f969642224_1_2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5" name="Google Shape;685;g3f969642224_1_2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f969642224_1_2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2" name="Google Shape;692;g3f969642224_1_2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f969642224_1_2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9" name="Google Shape;699;g3f969642224_1_2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f969642224_1_2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6" name="Google Shape;706;g3f969642224_1_2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f969642224_1_2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3" name="Google Shape;713;g3f969642224_1_2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350050" y="1467543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349475" y="-447057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969642224_69_0)">
  <p:cSld name="Generated (g3f969642224_69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4"/>
          <p:cNvPicPr preferRelativeResize="0"/>
          <p:nvPr/>
        </p:nvPicPr>
        <p:blipFill rotWithShape="1">
          <a:blip r:embed="rId3">
            <a:alphaModFix/>
          </a:blip>
          <a:srcRect b="32367" l="21552" r="20057" t="20258"/>
          <a:stretch/>
        </p:blipFill>
        <p:spPr>
          <a:xfrm>
            <a:off x="8001000" y="0"/>
            <a:ext cx="1142999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/>
          <p:nvPr/>
        </p:nvSpPr>
        <p:spPr>
          <a:xfrm>
            <a:off x="99026" y="2398657"/>
            <a:ext cx="8562300" cy="8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55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TCL</a:t>
            </a:r>
            <a:r>
              <a:rPr b="1" lang="en" sz="26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b="1" i="0" sz="1900" u="none" cap="none" strike="noStrike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5"/>
          <p:cNvPicPr preferRelativeResize="0"/>
          <p:nvPr/>
        </p:nvPicPr>
        <p:blipFill rotWithShape="1">
          <a:blip r:embed="rId4">
            <a:alphaModFix/>
          </a:blip>
          <a:srcRect b="9396" l="0" r="0" t="9396"/>
          <a:stretch/>
        </p:blipFill>
        <p:spPr>
          <a:xfrm>
            <a:off x="8001000" y="0"/>
            <a:ext cx="1143000" cy="12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 txBox="1"/>
          <p:nvPr/>
        </p:nvSpPr>
        <p:spPr>
          <a:xfrm>
            <a:off x="285750" y="381000"/>
            <a:ext cx="7620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Index</a:t>
            </a:r>
            <a:endParaRPr b="1" sz="24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285750" y="809625"/>
            <a:ext cx="762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Table of Contents and slide mapping for the TCL Programming module.</a:t>
            </a:r>
            <a:endParaRPr b="0" sz="12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15"/>
          <p:cNvGrpSpPr/>
          <p:nvPr/>
        </p:nvGrpSpPr>
        <p:grpSpPr>
          <a:xfrm>
            <a:off x="285750" y="1333500"/>
            <a:ext cx="7620000" cy="666900"/>
            <a:chOff x="0" y="0"/>
            <a:chExt cx="7620000" cy="666900"/>
          </a:xfrm>
        </p:grpSpPr>
        <p:sp>
          <p:nvSpPr>
            <p:cNvPr id="96" name="Google Shape;96;p15"/>
            <p:cNvSpPr/>
            <p:nvPr/>
          </p:nvSpPr>
          <p:spPr>
            <a:xfrm>
              <a:off x="0" y="0"/>
              <a:ext cx="7620000" cy="666900"/>
            </a:xfrm>
            <a:prstGeom prst="roundRect">
              <a:avLst>
                <a:gd fmla="val 11428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 txBox="1"/>
            <p:nvPr/>
          </p:nvSpPr>
          <p:spPr>
            <a:xfrm>
              <a:off x="190500" y="142875"/>
              <a:ext cx="4762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Arithmetics and Operations</a:t>
              </a:r>
              <a:endParaRPr b="1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Basic math evaluations in TCL using the expr command.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5"/>
            <p:cNvSpPr txBox="1"/>
            <p:nvPr/>
          </p:nvSpPr>
          <p:spPr>
            <a:xfrm>
              <a:off x="5905500" y="219075"/>
              <a:ext cx="152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slide </a:t>
              </a:r>
              <a:r>
                <a:rPr b="1" lang="en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" name="Google Shape;99;p15"/>
          <p:cNvGrpSpPr/>
          <p:nvPr/>
        </p:nvGrpSpPr>
        <p:grpSpPr>
          <a:xfrm>
            <a:off x="285750" y="2143125"/>
            <a:ext cx="7620000" cy="666900"/>
            <a:chOff x="0" y="0"/>
            <a:chExt cx="7620000" cy="666900"/>
          </a:xfrm>
        </p:grpSpPr>
        <p:sp>
          <p:nvSpPr>
            <p:cNvPr id="100" name="Google Shape;100;p15"/>
            <p:cNvSpPr/>
            <p:nvPr/>
          </p:nvSpPr>
          <p:spPr>
            <a:xfrm>
              <a:off x="0" y="0"/>
              <a:ext cx="7620000" cy="666900"/>
            </a:xfrm>
            <a:prstGeom prst="roundRect">
              <a:avLst>
                <a:gd fmla="val 11428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5"/>
            <p:cNvSpPr txBox="1"/>
            <p:nvPr/>
          </p:nvSpPr>
          <p:spPr>
            <a:xfrm>
              <a:off x="190500" y="142875"/>
              <a:ext cx="4762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While Loop</a:t>
              </a:r>
              <a:endParaRPr b="1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Demonstrating conditional loops in TCL using the while command.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5"/>
            <p:cNvSpPr txBox="1"/>
            <p:nvPr/>
          </p:nvSpPr>
          <p:spPr>
            <a:xfrm>
              <a:off x="5905500" y="219075"/>
              <a:ext cx="152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slide </a:t>
              </a:r>
              <a:r>
                <a:rPr b="1" lang="en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" name="Google Shape;103;p15"/>
          <p:cNvGrpSpPr/>
          <p:nvPr/>
        </p:nvGrpSpPr>
        <p:grpSpPr>
          <a:xfrm>
            <a:off x="285750" y="2952750"/>
            <a:ext cx="7620000" cy="666900"/>
            <a:chOff x="0" y="0"/>
            <a:chExt cx="7620000" cy="666900"/>
          </a:xfrm>
        </p:grpSpPr>
        <p:sp>
          <p:nvSpPr>
            <p:cNvPr id="104" name="Google Shape;104;p15"/>
            <p:cNvSpPr/>
            <p:nvPr/>
          </p:nvSpPr>
          <p:spPr>
            <a:xfrm>
              <a:off x="0" y="0"/>
              <a:ext cx="7620000" cy="666900"/>
            </a:xfrm>
            <a:prstGeom prst="roundRect">
              <a:avLst>
                <a:gd fmla="val 11428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5"/>
            <p:cNvSpPr txBox="1"/>
            <p:nvPr/>
          </p:nvSpPr>
          <p:spPr>
            <a:xfrm>
              <a:off x="190500" y="142875"/>
              <a:ext cx="4762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For Loop</a:t>
              </a:r>
              <a:endParaRPr b="1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Loop control syntax and structure using the for command.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5"/>
            <p:cNvSpPr txBox="1"/>
            <p:nvPr/>
          </p:nvSpPr>
          <p:spPr>
            <a:xfrm>
              <a:off x="5905500" y="219075"/>
              <a:ext cx="152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slide </a:t>
              </a:r>
              <a:r>
                <a:rPr b="1" lang="en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r>
                <a:rPr b="1" lang="en" sz="1400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 - slide </a:t>
              </a:r>
              <a:r>
                <a:rPr b="1" lang="en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p15"/>
          <p:cNvSpPr txBox="1"/>
          <p:nvPr/>
        </p:nvSpPr>
        <p:spPr>
          <a:xfrm>
            <a:off x="4714875" y="4762500"/>
            <a:ext cx="4353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https://github.com/Mihir-Mithani/TCL_Programing</a:t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/>
          <p:cNvPicPr preferRelativeResize="0"/>
          <p:nvPr/>
        </p:nvPicPr>
        <p:blipFill rotWithShape="1">
          <a:blip r:embed="rId4">
            <a:alphaModFix/>
          </a:blip>
          <a:srcRect b="9396" l="0" r="0" t="9396"/>
          <a:stretch/>
        </p:blipFill>
        <p:spPr>
          <a:xfrm>
            <a:off x="8001000" y="0"/>
            <a:ext cx="1143000" cy="1200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" name="Google Shape;114;p16"/>
          <p:cNvGrpSpPr/>
          <p:nvPr/>
        </p:nvGrpSpPr>
        <p:grpSpPr>
          <a:xfrm>
            <a:off x="285750" y="381000"/>
            <a:ext cx="7620000" cy="714525"/>
            <a:chOff x="285750" y="381000"/>
            <a:chExt cx="7620000" cy="714525"/>
          </a:xfrm>
        </p:grpSpPr>
        <p:sp>
          <p:nvSpPr>
            <p:cNvPr id="115" name="Google Shape;115;p16"/>
            <p:cNvSpPr txBox="1"/>
            <p:nvPr/>
          </p:nvSpPr>
          <p:spPr>
            <a:xfrm>
              <a:off x="285750" y="381000"/>
              <a:ext cx="7620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070C0"/>
                  </a:solidFill>
                  <a:latin typeface="Cambria"/>
                  <a:ea typeface="Cambria"/>
                  <a:cs typeface="Cambria"/>
                  <a:sym typeface="Cambria"/>
                </a:rPr>
                <a:t>TCL Data Structures Index</a:t>
              </a:r>
              <a:endParaRPr b="1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285750" y="809625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Quick access index to String, List, and Array manipulation concepts in TCL.</a:t>
              </a:r>
              <a:endParaRPr b="0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" name="Google Shape;117;p16"/>
          <p:cNvGrpSpPr/>
          <p:nvPr/>
        </p:nvGrpSpPr>
        <p:grpSpPr>
          <a:xfrm>
            <a:off x="285750" y="1333500"/>
            <a:ext cx="2667000" cy="2952900"/>
            <a:chOff x="0" y="0"/>
            <a:chExt cx="2667000" cy="2952900"/>
          </a:xfrm>
        </p:grpSpPr>
        <p:sp>
          <p:nvSpPr>
            <p:cNvPr id="118" name="Google Shape;118;p16"/>
            <p:cNvSpPr/>
            <p:nvPr/>
          </p:nvSpPr>
          <p:spPr>
            <a:xfrm>
              <a:off x="0" y="0"/>
              <a:ext cx="2667000" cy="2952900"/>
            </a:xfrm>
            <a:prstGeom prst="roundRect">
              <a:avLst>
                <a:gd fmla="val 4285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6"/>
            <p:cNvSpPr/>
            <p:nvPr/>
          </p:nvSpPr>
          <p:spPr>
            <a:xfrm>
              <a:off x="0" y="0"/>
              <a:ext cx="2667000" cy="523800"/>
            </a:xfrm>
            <a:prstGeom prst="roundRect">
              <a:avLst>
                <a:gd fmla="val 21818" name="adj"/>
              </a:avLst>
            </a:prstGeom>
            <a:solidFill>
              <a:srgbClr val="38BDF8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0" y="381000"/>
              <a:ext cx="2667000" cy="142800"/>
            </a:xfrm>
            <a:prstGeom prst="rect">
              <a:avLst/>
            </a:prstGeom>
            <a:solidFill>
              <a:srgbClr val="38BDF8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6"/>
            <p:cNvSpPr/>
            <p:nvPr/>
          </p:nvSpPr>
          <p:spPr>
            <a:xfrm>
              <a:off x="152400" y="133350"/>
              <a:ext cx="266700" cy="2667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247650" y="228600"/>
              <a:ext cx="76200" cy="762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30000" y="0"/>
                  </a:moveTo>
                  <a:lnTo>
                    <a:pt x="90000" y="60000"/>
                  </a:lnTo>
                  <a:lnTo>
                    <a:pt x="3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0369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6"/>
            <p:cNvSpPr txBox="1"/>
            <p:nvPr/>
          </p:nvSpPr>
          <p:spPr>
            <a:xfrm>
              <a:off x="533400" y="152400"/>
              <a:ext cx="2000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369A1"/>
                  </a:solidFill>
                  <a:latin typeface="Arial"/>
                  <a:ea typeface="Arial"/>
                  <a:cs typeface="Arial"/>
                  <a:sym typeface="Arial"/>
                </a:rPr>
                <a:t>Strings</a:t>
              </a:r>
              <a:endParaRPr b="1" sz="1400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6"/>
            <p:cNvSpPr txBox="1"/>
            <p:nvPr/>
          </p:nvSpPr>
          <p:spPr>
            <a:xfrm>
              <a:off x="190500" y="666750"/>
              <a:ext cx="2286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Character sequence handling and manipulation commands: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• string length </a:t>
              </a:r>
              <a:r>
                <a:rPr b="1" lang="en" sz="9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endParaRPr b="1" sz="9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• string tolower </a:t>
              </a:r>
              <a:r>
                <a:rPr b="1" lang="en" sz="9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endParaRPr b="1" sz="9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• string range </a:t>
              </a:r>
              <a:r>
                <a:rPr b="1" lang="en" sz="9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 first last</a:t>
              </a:r>
              <a:endParaRPr b="1" sz="9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• string trimright </a:t>
              </a:r>
              <a:r>
                <a:rPr b="1" lang="en" sz="9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 ?chars?</a:t>
              </a:r>
              <a:endParaRPr b="1" sz="9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190500" y="2419350"/>
              <a:ext cx="2286000" cy="342900"/>
            </a:xfrm>
            <a:prstGeom prst="roundRect">
              <a:avLst>
                <a:gd fmla="val 22222" name="adj"/>
              </a:avLst>
            </a:prstGeom>
            <a:solidFill>
              <a:srgbClr val="0369A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6"/>
            <p:cNvSpPr txBox="1"/>
            <p:nvPr/>
          </p:nvSpPr>
          <p:spPr>
            <a:xfrm>
              <a:off x="190500" y="2419350"/>
              <a:ext cx="2286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 Modules Completed</a:t>
              </a:r>
              <a:endPara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" name="Google Shape;127;p16"/>
          <p:cNvGrpSpPr/>
          <p:nvPr/>
        </p:nvGrpSpPr>
        <p:grpSpPr>
          <a:xfrm>
            <a:off x="3238500" y="1333500"/>
            <a:ext cx="2667000" cy="2952900"/>
            <a:chOff x="0" y="0"/>
            <a:chExt cx="2667000" cy="2952900"/>
          </a:xfrm>
        </p:grpSpPr>
        <p:sp>
          <p:nvSpPr>
            <p:cNvPr id="128" name="Google Shape;128;p16"/>
            <p:cNvSpPr/>
            <p:nvPr/>
          </p:nvSpPr>
          <p:spPr>
            <a:xfrm>
              <a:off x="0" y="0"/>
              <a:ext cx="2667000" cy="2952900"/>
            </a:xfrm>
            <a:prstGeom prst="roundRect">
              <a:avLst>
                <a:gd fmla="val 4285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0" y="0"/>
              <a:ext cx="2667000" cy="523800"/>
            </a:xfrm>
            <a:prstGeom prst="roundRect">
              <a:avLst>
                <a:gd fmla="val 21818" name="adj"/>
              </a:avLst>
            </a:prstGeom>
            <a:solidFill>
              <a:srgbClr val="34D399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6"/>
            <p:cNvSpPr/>
            <p:nvPr/>
          </p:nvSpPr>
          <p:spPr>
            <a:xfrm>
              <a:off x="0" y="381000"/>
              <a:ext cx="2667000" cy="142800"/>
            </a:xfrm>
            <a:prstGeom prst="rect">
              <a:avLst/>
            </a:prstGeom>
            <a:solidFill>
              <a:srgbClr val="34D399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6"/>
            <p:cNvSpPr/>
            <p:nvPr/>
          </p:nvSpPr>
          <p:spPr>
            <a:xfrm>
              <a:off x="152400" y="133350"/>
              <a:ext cx="266700" cy="2667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238125" y="228600"/>
              <a:ext cx="95400" cy="762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moveTo>
                    <a:pt x="0" y="60000"/>
                  </a:moveTo>
                  <a:lnTo>
                    <a:pt x="120000" y="60000"/>
                  </a:lnTo>
                  <a:moveTo>
                    <a:pt x="0" y="120000"/>
                  </a:move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0478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6"/>
            <p:cNvSpPr txBox="1"/>
            <p:nvPr/>
          </p:nvSpPr>
          <p:spPr>
            <a:xfrm>
              <a:off x="533400" y="152400"/>
              <a:ext cx="2000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47857"/>
                  </a:solidFill>
                  <a:latin typeface="Arial"/>
                  <a:ea typeface="Arial"/>
                  <a:cs typeface="Arial"/>
                  <a:sym typeface="Arial"/>
                </a:rPr>
                <a:t>Lists</a:t>
              </a:r>
              <a:endParaRPr b="1" sz="1400">
                <a:solidFill>
                  <a:srgbClr val="04785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6"/>
            <p:cNvSpPr txBox="1"/>
            <p:nvPr/>
          </p:nvSpPr>
          <p:spPr>
            <a:xfrm>
              <a:off x="190500" y="666750"/>
              <a:ext cx="2286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Ordered collections of values for linear data handling: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• lindex </a:t>
              </a:r>
              <a:r>
                <a:rPr b="1" lang="en" sz="9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list index</a:t>
              </a:r>
              <a:endParaRPr b="1" sz="9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• linsert </a:t>
              </a:r>
              <a:r>
                <a:rPr b="1" lang="en" sz="9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list index value ...</a:t>
              </a:r>
              <a:endParaRPr b="1" sz="9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• llength </a:t>
              </a:r>
              <a:r>
                <a:rPr b="1" lang="en" sz="9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list</a:t>
              </a:r>
              <a:endParaRPr b="1" sz="9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• lappend </a:t>
              </a:r>
              <a:r>
                <a:rPr b="1" lang="en" sz="9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listVar value ...</a:t>
              </a:r>
              <a:endParaRPr b="1" sz="9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190500" y="2419350"/>
              <a:ext cx="2286000" cy="342900"/>
            </a:xfrm>
            <a:prstGeom prst="roundRect">
              <a:avLst>
                <a:gd fmla="val 22222" name="adj"/>
              </a:avLst>
            </a:prstGeom>
            <a:solidFill>
              <a:srgbClr val="0478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6"/>
            <p:cNvSpPr txBox="1"/>
            <p:nvPr/>
          </p:nvSpPr>
          <p:spPr>
            <a:xfrm>
              <a:off x="190500" y="2419350"/>
              <a:ext cx="2286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Explore Lists</a:t>
              </a:r>
              <a:endPara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" name="Google Shape;137;p16"/>
          <p:cNvGrpSpPr/>
          <p:nvPr/>
        </p:nvGrpSpPr>
        <p:grpSpPr>
          <a:xfrm>
            <a:off x="6191250" y="1333500"/>
            <a:ext cx="2667000" cy="2952900"/>
            <a:chOff x="0" y="0"/>
            <a:chExt cx="2667000" cy="2952900"/>
          </a:xfrm>
        </p:grpSpPr>
        <p:sp>
          <p:nvSpPr>
            <p:cNvPr id="138" name="Google Shape;138;p16"/>
            <p:cNvSpPr/>
            <p:nvPr/>
          </p:nvSpPr>
          <p:spPr>
            <a:xfrm>
              <a:off x="0" y="0"/>
              <a:ext cx="2667000" cy="2952900"/>
            </a:xfrm>
            <a:prstGeom prst="roundRect">
              <a:avLst>
                <a:gd fmla="val 4285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6"/>
            <p:cNvSpPr/>
            <p:nvPr/>
          </p:nvSpPr>
          <p:spPr>
            <a:xfrm>
              <a:off x="0" y="0"/>
              <a:ext cx="2667000" cy="523800"/>
            </a:xfrm>
            <a:prstGeom prst="roundRect">
              <a:avLst>
                <a:gd fmla="val 21818" name="adj"/>
              </a:avLst>
            </a:prstGeom>
            <a:solidFill>
              <a:srgbClr val="F43F5E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6"/>
            <p:cNvSpPr/>
            <p:nvPr/>
          </p:nvSpPr>
          <p:spPr>
            <a:xfrm>
              <a:off x="0" y="381000"/>
              <a:ext cx="2667000" cy="142800"/>
            </a:xfrm>
            <a:prstGeom prst="rect">
              <a:avLst/>
            </a:prstGeom>
            <a:solidFill>
              <a:srgbClr val="F43F5E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6"/>
            <p:cNvSpPr/>
            <p:nvPr/>
          </p:nvSpPr>
          <p:spPr>
            <a:xfrm>
              <a:off x="152400" y="133350"/>
              <a:ext cx="266700" cy="266700"/>
            </a:xfrm>
            <a:prstGeom prst="ellipse">
              <a:avLst/>
            </a:pr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6"/>
            <p:cNvSpPr/>
            <p:nvPr/>
          </p:nvSpPr>
          <p:spPr>
            <a:xfrm>
              <a:off x="228600" y="228600"/>
              <a:ext cx="114300" cy="114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50000" y="0"/>
                  </a:lnTo>
                  <a:lnTo>
                    <a:pt x="50000" y="50000"/>
                  </a:lnTo>
                  <a:lnTo>
                    <a:pt x="0" y="50000"/>
                  </a:lnTo>
                  <a:close/>
                  <a:moveTo>
                    <a:pt x="70000" y="0"/>
                  </a:moveTo>
                  <a:lnTo>
                    <a:pt x="120000" y="0"/>
                  </a:lnTo>
                  <a:lnTo>
                    <a:pt x="120000" y="50000"/>
                  </a:lnTo>
                  <a:lnTo>
                    <a:pt x="70000" y="50000"/>
                  </a:lnTo>
                  <a:close/>
                  <a:moveTo>
                    <a:pt x="0" y="70000"/>
                  </a:moveTo>
                  <a:lnTo>
                    <a:pt x="50000" y="70000"/>
                  </a:lnTo>
                  <a:lnTo>
                    <a:pt x="50000" y="120000"/>
                  </a:lnTo>
                  <a:lnTo>
                    <a:pt x="0" y="120000"/>
                  </a:lnTo>
                  <a:close/>
                  <a:moveTo>
                    <a:pt x="70000" y="70000"/>
                  </a:moveTo>
                  <a:lnTo>
                    <a:pt x="120000" y="70000"/>
                  </a:lnTo>
                  <a:lnTo>
                    <a:pt x="120000" y="120000"/>
                  </a:lnTo>
                  <a:lnTo>
                    <a:pt x="70000" y="12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BE1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6"/>
            <p:cNvSpPr txBox="1"/>
            <p:nvPr/>
          </p:nvSpPr>
          <p:spPr>
            <a:xfrm>
              <a:off x="533400" y="152400"/>
              <a:ext cx="2000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BE123C"/>
                  </a:solidFill>
                  <a:latin typeface="Arial"/>
                  <a:ea typeface="Arial"/>
                  <a:cs typeface="Arial"/>
                  <a:sym typeface="Arial"/>
                </a:rPr>
                <a:t>Arrays</a:t>
              </a:r>
              <a:endParaRPr b="1" sz="1400">
                <a:solidFill>
                  <a:srgbClr val="BE123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6"/>
            <p:cNvSpPr txBox="1"/>
            <p:nvPr/>
          </p:nvSpPr>
          <p:spPr>
            <a:xfrm>
              <a:off x="190500" y="666750"/>
              <a:ext cx="2286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Associative mappings with arbitrary string keys: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• set </a:t>
              </a:r>
              <a:r>
                <a:rPr b="1" lang="en" sz="9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arrayName(key) val</a:t>
              </a:r>
              <a:endParaRPr b="1" sz="9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• array exists </a:t>
              </a:r>
              <a:r>
                <a:rPr b="1" lang="en" sz="9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arrayName</a:t>
              </a:r>
              <a:endParaRPr b="1" sz="9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• array names </a:t>
              </a:r>
              <a:r>
                <a:rPr b="1" lang="en" sz="9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arrayName</a:t>
              </a:r>
              <a:endParaRPr b="1" sz="9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• array size </a:t>
              </a:r>
              <a:r>
                <a:rPr b="1" lang="en" sz="9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arrayName</a:t>
              </a:r>
              <a:endParaRPr b="1" sz="9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190500" y="2419350"/>
              <a:ext cx="2286000" cy="342900"/>
            </a:xfrm>
            <a:prstGeom prst="roundRect">
              <a:avLst>
                <a:gd fmla="val 22222" name="adj"/>
              </a:avLst>
            </a:prstGeom>
            <a:solidFill>
              <a:srgbClr val="BE123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6"/>
            <p:cNvSpPr txBox="1"/>
            <p:nvPr/>
          </p:nvSpPr>
          <p:spPr>
            <a:xfrm>
              <a:off x="190500" y="2419350"/>
              <a:ext cx="2286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Explore Arrays</a:t>
              </a:r>
              <a:endPara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" name="Google Shape;147;p16"/>
          <p:cNvSpPr txBox="1"/>
          <p:nvPr/>
        </p:nvSpPr>
        <p:spPr>
          <a:xfrm>
            <a:off x="4714875" y="4762424"/>
            <a:ext cx="436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https://github.com/Mihir-Mithani/TCL_Programing</a:t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/>
          <p:cNvPicPr preferRelativeResize="0"/>
          <p:nvPr/>
        </p:nvPicPr>
        <p:blipFill rotWithShape="1">
          <a:blip r:embed="rId3">
            <a:alphaModFix/>
          </a:blip>
          <a:srcRect b="32367" l="21552" r="20057" t="20258"/>
          <a:stretch/>
        </p:blipFill>
        <p:spPr>
          <a:xfrm>
            <a:off x="8001000" y="0"/>
            <a:ext cx="1142999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285750" y="809625"/>
            <a:ext cx="762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Demonstrating math evaluations in TCL using the </a:t>
            </a:r>
            <a:r>
              <a:rPr b="1" lang="en" sz="1200">
                <a:solidFill>
                  <a:srgbClr val="0F172A"/>
                </a:solidFill>
                <a:highlight>
                  <a:srgbClr val="E2E8F0"/>
                </a:highlight>
                <a:latin typeface="Arial"/>
                <a:ea typeface="Arial"/>
                <a:cs typeface="Arial"/>
                <a:sym typeface="Arial"/>
              </a:rPr>
              <a:t>expr</a:t>
            </a:r>
            <a:r>
              <a:rPr lang="en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command.</a:t>
            </a:r>
            <a:endParaRPr sz="12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" name="Google Shape;154;p17"/>
          <p:cNvGrpSpPr/>
          <p:nvPr/>
        </p:nvGrpSpPr>
        <p:grpSpPr>
          <a:xfrm>
            <a:off x="285750" y="1285875"/>
            <a:ext cx="4143300" cy="3286200"/>
            <a:chOff x="0" y="0"/>
            <a:chExt cx="4143300" cy="3286200"/>
          </a:xfrm>
        </p:grpSpPr>
        <p:sp>
          <p:nvSpPr>
            <p:cNvPr id="155" name="Google Shape;155;p17"/>
            <p:cNvSpPr/>
            <p:nvPr/>
          </p:nvSpPr>
          <p:spPr>
            <a:xfrm>
              <a:off x="0" y="0"/>
              <a:ext cx="4143300" cy="3286200"/>
            </a:xfrm>
            <a:prstGeom prst="roundRect">
              <a:avLst>
                <a:gd fmla="val 2318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13335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30480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7"/>
            <p:cNvSpPr/>
            <p:nvPr/>
          </p:nvSpPr>
          <p:spPr>
            <a:xfrm>
              <a:off x="47625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7"/>
            <p:cNvSpPr txBox="1"/>
            <p:nvPr/>
          </p:nvSpPr>
          <p:spPr>
            <a:xfrm>
              <a:off x="76200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expr.tcl</a:t>
              </a:r>
              <a:endParaRPr b="1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7"/>
            <p:cNvSpPr txBox="1"/>
            <p:nvPr/>
          </p:nvSpPr>
          <p:spPr>
            <a:xfrm>
              <a:off x="190500" y="523875"/>
              <a:ext cx="3762300" cy="26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43F5E"/>
                  </a:solidFill>
                  <a:latin typeface="Arial"/>
                  <a:ea typeface="Arial"/>
                  <a:cs typeface="Arial"/>
                  <a:sym typeface="Arial"/>
                </a:rPr>
                <a:t>set</a:t>
              </a:r>
              <a:r>
                <a:rPr lang="en" sz="105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 a </a:t>
              </a:r>
              <a:r>
                <a:rPr lang="en" sz="105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"5"</a:t>
              </a:r>
              <a:r>
                <a:rPr lang="en" sz="105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sz="105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43F5E"/>
                  </a:solidFill>
                  <a:latin typeface="Arial"/>
                  <a:ea typeface="Arial"/>
                  <a:cs typeface="Arial"/>
                  <a:sym typeface="Arial"/>
                </a:rPr>
                <a:t>set</a:t>
              </a:r>
              <a:r>
                <a:rPr lang="en" sz="105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 b </a:t>
              </a:r>
              <a:r>
                <a:rPr lang="en" sz="105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"3"</a:t>
              </a:r>
              <a:r>
                <a:rPr lang="en" sz="105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sz="105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43F5E"/>
                  </a:solidFill>
                  <a:latin typeface="Arial"/>
                  <a:ea typeface="Arial"/>
                  <a:cs typeface="Arial"/>
                  <a:sym typeface="Arial"/>
                </a:rPr>
                <a:t>set</a:t>
              </a:r>
              <a:r>
                <a:rPr lang="en" sz="105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 c [</a:t>
              </a:r>
              <a:r>
                <a:rPr lang="en" sz="105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expr</a:t>
              </a:r>
              <a:r>
                <a:rPr lang="en" sz="105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105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"$a + $b"</a:t>
              </a:r>
              <a:r>
                <a:rPr lang="en" sz="105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];</a:t>
              </a:r>
              <a:endParaRPr sz="105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43F5E"/>
                  </a:solidFill>
                  <a:latin typeface="Arial"/>
                  <a:ea typeface="Arial"/>
                  <a:cs typeface="Arial"/>
                  <a:sym typeface="Arial"/>
                </a:rPr>
                <a:t>set</a:t>
              </a:r>
              <a:r>
                <a:rPr lang="en" sz="105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 d [</a:t>
              </a:r>
              <a:r>
                <a:rPr lang="en" sz="105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expr</a:t>
              </a:r>
              <a:r>
                <a:rPr lang="en" sz="105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105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"$a - $b"</a:t>
              </a:r>
              <a:r>
                <a:rPr lang="en" sz="105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];</a:t>
              </a:r>
              <a:endParaRPr sz="105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43F5E"/>
                  </a:solidFill>
                  <a:latin typeface="Arial"/>
                  <a:ea typeface="Arial"/>
                  <a:cs typeface="Arial"/>
                  <a:sym typeface="Arial"/>
                </a:rPr>
                <a:t>set</a:t>
              </a:r>
              <a:r>
                <a:rPr lang="en" sz="105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 e [</a:t>
              </a:r>
              <a:r>
                <a:rPr lang="en" sz="105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expr</a:t>
              </a:r>
              <a:r>
                <a:rPr lang="en" sz="105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105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"$a * $b"</a:t>
              </a:r>
              <a:r>
                <a:rPr lang="en" sz="105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];</a:t>
              </a:r>
              <a:endParaRPr sz="105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43F5E"/>
                  </a:solidFill>
                  <a:latin typeface="Arial"/>
                  <a:ea typeface="Arial"/>
                  <a:cs typeface="Arial"/>
                  <a:sym typeface="Arial"/>
                </a:rPr>
                <a:t>set</a:t>
              </a:r>
              <a:r>
                <a:rPr lang="en" sz="105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 f [</a:t>
              </a:r>
              <a:r>
                <a:rPr lang="en" sz="105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expr</a:t>
              </a:r>
              <a:r>
                <a:rPr lang="en" sz="105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105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"$a / $b"</a:t>
              </a:r>
              <a:r>
                <a:rPr lang="en" sz="105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];</a:t>
              </a:r>
              <a:endParaRPr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43F5E"/>
                  </a:solidFill>
                  <a:latin typeface="Arial"/>
                  <a:ea typeface="Arial"/>
                  <a:cs typeface="Arial"/>
                  <a:sym typeface="Arial"/>
                </a:rPr>
                <a:t>puts</a:t>
              </a:r>
              <a:r>
                <a:rPr lang="en" sz="105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105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"addition of $a and $b is $c"</a:t>
              </a:r>
              <a:r>
                <a:rPr lang="en" sz="105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sz="105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43F5E"/>
                  </a:solidFill>
                  <a:latin typeface="Arial"/>
                  <a:ea typeface="Arial"/>
                  <a:cs typeface="Arial"/>
                  <a:sym typeface="Arial"/>
                </a:rPr>
                <a:t>puts</a:t>
              </a:r>
              <a:r>
                <a:rPr lang="en" sz="105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105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"substraction of $a and $b is $d"</a:t>
              </a:r>
              <a:r>
                <a:rPr lang="en" sz="105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sz="105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43F5E"/>
                  </a:solidFill>
                  <a:latin typeface="Arial"/>
                  <a:ea typeface="Arial"/>
                  <a:cs typeface="Arial"/>
                  <a:sym typeface="Arial"/>
                </a:rPr>
                <a:t>puts</a:t>
              </a:r>
              <a:r>
                <a:rPr lang="en" sz="105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105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"multiplication of $a and $b is $e"</a:t>
              </a:r>
              <a:r>
                <a:rPr lang="en" sz="105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sz="105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43F5E"/>
                  </a:solidFill>
                  <a:latin typeface="Arial"/>
                  <a:ea typeface="Arial"/>
                  <a:cs typeface="Arial"/>
                  <a:sym typeface="Arial"/>
                </a:rPr>
                <a:t>puts</a:t>
              </a:r>
              <a:r>
                <a:rPr lang="en" sz="105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105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"divition of $a and $b is $f"</a:t>
              </a:r>
              <a:r>
                <a:rPr lang="en" sz="105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sz="105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3" name="Google Shape;163;p17"/>
          <p:cNvGrpSpPr/>
          <p:nvPr/>
        </p:nvGrpSpPr>
        <p:grpSpPr>
          <a:xfrm>
            <a:off x="4714875" y="1285875"/>
            <a:ext cx="4143300" cy="3286200"/>
            <a:chOff x="0" y="0"/>
            <a:chExt cx="4143300" cy="3286200"/>
          </a:xfrm>
        </p:grpSpPr>
        <p:sp>
          <p:nvSpPr>
            <p:cNvPr id="164" name="Google Shape;164;p17"/>
            <p:cNvSpPr/>
            <p:nvPr/>
          </p:nvSpPr>
          <p:spPr>
            <a:xfrm>
              <a:off x="0" y="0"/>
              <a:ext cx="4143300" cy="3286200"/>
            </a:xfrm>
            <a:prstGeom prst="roundRect">
              <a:avLst>
                <a:gd fmla="val 2318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7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7"/>
            <p:cNvSpPr txBox="1"/>
            <p:nvPr/>
          </p:nvSpPr>
          <p:spPr>
            <a:xfrm>
              <a:off x="19050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Output Terminal</a:t>
              </a:r>
              <a:endParaRPr b="1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7"/>
            <p:cNvSpPr txBox="1"/>
            <p:nvPr/>
          </p:nvSpPr>
          <p:spPr>
            <a:xfrm>
              <a:off x="190500" y="523875"/>
              <a:ext cx="3762300" cy="26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$ tclsh expr.tcl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addition of 5 and 3 is 8</a:t>
              </a:r>
              <a:endParaRPr sz="11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substraction of 5 and 3 is 2</a:t>
              </a:r>
              <a:endParaRPr sz="11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multiplication of 5 and 3 is 15</a:t>
              </a:r>
              <a:endParaRPr sz="11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divition of 5 and 3 is 1</a:t>
              </a:r>
              <a:endParaRPr sz="11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9" name="Google Shape;169;p17"/>
          <p:cNvSpPr/>
          <p:nvPr/>
        </p:nvSpPr>
        <p:spPr>
          <a:xfrm>
            <a:off x="285750" y="381000"/>
            <a:ext cx="7620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Arithmetics and Operations</a:t>
            </a:r>
            <a:endParaRPr b="1" sz="24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4714875" y="4762425"/>
            <a:ext cx="436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https://github.com/Mihir-Mithani/TCL_Programing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8"/>
          <p:cNvPicPr preferRelativeResize="0"/>
          <p:nvPr/>
        </p:nvPicPr>
        <p:blipFill rotWithShape="1">
          <a:blip r:embed="rId3">
            <a:alphaModFix/>
          </a:blip>
          <a:srcRect b="32367" l="21552" r="20057" t="20258"/>
          <a:stretch/>
        </p:blipFill>
        <p:spPr>
          <a:xfrm>
            <a:off x="8001000" y="0"/>
            <a:ext cx="1142999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/>
          <p:nvPr/>
        </p:nvSpPr>
        <p:spPr>
          <a:xfrm>
            <a:off x="285750" y="381000"/>
            <a:ext cx="7620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While Loop</a:t>
            </a:r>
            <a:endParaRPr b="1" sz="24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4714875" y="4762425"/>
            <a:ext cx="436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https://github.com/Mihir-Mithani/TCL_Programing</a:t>
            </a:r>
            <a:endParaRPr/>
          </a:p>
        </p:txBody>
      </p:sp>
      <p:grpSp>
        <p:nvGrpSpPr>
          <p:cNvPr id="178" name="Google Shape;178;p18"/>
          <p:cNvGrpSpPr/>
          <p:nvPr/>
        </p:nvGrpSpPr>
        <p:grpSpPr>
          <a:xfrm>
            <a:off x="285750" y="809625"/>
            <a:ext cx="7620000" cy="285900"/>
            <a:chOff x="0" y="0"/>
            <a:chExt cx="7620000" cy="285900"/>
          </a:xfrm>
        </p:grpSpPr>
        <p:sp>
          <p:nvSpPr>
            <p:cNvPr id="179" name="Google Shape;179;p18"/>
            <p:cNvSpPr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8"/>
            <p:cNvSpPr txBox="1"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Demonstrating loops in TCL using the </a:t>
              </a:r>
              <a:r>
                <a:rPr b="1" lang="en" sz="1200">
                  <a:solidFill>
                    <a:srgbClr val="0F172A"/>
                  </a:solidFill>
                  <a:highlight>
                    <a:srgbClr val="E2E8F0"/>
                  </a:highlight>
                  <a:latin typeface="Arial"/>
                  <a:ea typeface="Arial"/>
                  <a:cs typeface="Arial"/>
                  <a:sym typeface="Arial"/>
                </a:rPr>
                <a:t>while</a:t>
              </a:r>
              <a:r>
                <a:rPr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command.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1" name="Google Shape;181;p18"/>
          <p:cNvGrpSpPr/>
          <p:nvPr/>
        </p:nvGrpSpPr>
        <p:grpSpPr>
          <a:xfrm>
            <a:off x="285750" y="1285875"/>
            <a:ext cx="4143300" cy="3286200"/>
            <a:chOff x="0" y="0"/>
            <a:chExt cx="4143300" cy="3286200"/>
          </a:xfrm>
        </p:grpSpPr>
        <p:sp>
          <p:nvSpPr>
            <p:cNvPr id="182" name="Google Shape;182;p18"/>
            <p:cNvSpPr/>
            <p:nvPr/>
          </p:nvSpPr>
          <p:spPr>
            <a:xfrm>
              <a:off x="0" y="0"/>
              <a:ext cx="4143300" cy="3286200"/>
            </a:xfrm>
            <a:prstGeom prst="roundRect">
              <a:avLst>
                <a:gd fmla="val 2318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8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8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8"/>
            <p:cNvSpPr/>
            <p:nvPr/>
          </p:nvSpPr>
          <p:spPr>
            <a:xfrm>
              <a:off x="7620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8"/>
            <p:cNvSpPr/>
            <p:nvPr/>
          </p:nvSpPr>
          <p:spPr>
            <a:xfrm>
              <a:off x="24765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8"/>
            <p:cNvSpPr/>
            <p:nvPr/>
          </p:nvSpPr>
          <p:spPr>
            <a:xfrm>
              <a:off x="41910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8"/>
            <p:cNvSpPr txBox="1"/>
            <p:nvPr/>
          </p:nvSpPr>
          <p:spPr>
            <a:xfrm>
              <a:off x="76200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while.tcl</a:t>
              </a:r>
              <a:endParaRPr b="1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8"/>
            <p:cNvSpPr txBox="1"/>
            <p:nvPr/>
          </p:nvSpPr>
          <p:spPr>
            <a:xfrm>
              <a:off x="190500" y="523875"/>
              <a:ext cx="3762300" cy="26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#while loop</a:t>
              </a:r>
              <a:endParaRPr b="0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latin typeface="Arial"/>
                  <a:ea typeface="Arial"/>
                  <a:cs typeface="Arial"/>
                  <a:sym typeface="Arial"/>
                </a:rPr>
                <a:t>set</a:t>
              </a:r>
              <a:r>
                <a:rPr b="0" lang="en" sz="110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 x </a:t>
              </a:r>
              <a:r>
                <a:rPr b="0" lang="en" sz="110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0" lang="en" sz="110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1" sz="1100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latin typeface="Arial"/>
                  <a:ea typeface="Arial"/>
                  <a:cs typeface="Arial"/>
                  <a:sym typeface="Arial"/>
                </a:rPr>
                <a:t>while</a:t>
              </a:r>
              <a:r>
                <a:rPr b="0" lang="en" sz="110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 {$x </a:t>
              </a:r>
              <a:r>
                <a:rPr b="1" lang="en" sz="1100">
                  <a:solidFill>
                    <a:srgbClr val="F43F5E"/>
                  </a:solidFill>
                  <a:latin typeface="Arial"/>
                  <a:ea typeface="Arial"/>
                  <a:cs typeface="Arial"/>
                  <a:sym typeface="Arial"/>
                </a:rPr>
                <a:t>&lt;</a:t>
              </a:r>
              <a:r>
                <a:rPr b="0" lang="en" sz="110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 6} {</a:t>
              </a:r>
              <a:endParaRPr b="1" sz="1100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latin typeface="Arial"/>
                  <a:ea typeface="Arial"/>
                  <a:cs typeface="Arial"/>
                  <a:sym typeface="Arial"/>
                </a:rPr>
                <a:t>puts </a:t>
              </a:r>
              <a:r>
                <a:rPr b="0" lang="en" sz="110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"x is $x"</a:t>
              </a:r>
              <a:endParaRPr b="1" sz="1100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latin typeface="Arial"/>
                  <a:ea typeface="Arial"/>
                  <a:cs typeface="Arial"/>
                  <a:sym typeface="Arial"/>
                </a:rPr>
                <a:t>set</a:t>
              </a:r>
              <a:r>
                <a:rPr b="0" lang="en" sz="110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 x [</a:t>
              </a:r>
              <a:r>
                <a:rPr b="0" lang="en" sz="11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expr</a:t>
              </a:r>
              <a:r>
                <a:rPr b="0" lang="en" sz="110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 $x </a:t>
              </a:r>
              <a:r>
                <a:rPr b="1" lang="en" sz="1100">
                  <a:solidFill>
                    <a:srgbClr val="F43F5E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r>
                <a:rPr b="0" lang="en" sz="110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 1]</a:t>
              </a:r>
              <a:endParaRPr b="1" sz="1100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b="1" sz="1100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" name="Google Shape;190;p18"/>
          <p:cNvGrpSpPr/>
          <p:nvPr/>
        </p:nvGrpSpPr>
        <p:grpSpPr>
          <a:xfrm>
            <a:off x="4714875" y="1285875"/>
            <a:ext cx="4143300" cy="3286200"/>
            <a:chOff x="0" y="0"/>
            <a:chExt cx="4143300" cy="3286200"/>
          </a:xfrm>
        </p:grpSpPr>
        <p:sp>
          <p:nvSpPr>
            <p:cNvPr id="191" name="Google Shape;191;p18"/>
            <p:cNvSpPr/>
            <p:nvPr/>
          </p:nvSpPr>
          <p:spPr>
            <a:xfrm>
              <a:off x="0" y="0"/>
              <a:ext cx="4143300" cy="3286200"/>
            </a:xfrm>
            <a:prstGeom prst="roundRect">
              <a:avLst>
                <a:gd fmla="val 2318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8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8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8"/>
            <p:cNvSpPr txBox="1"/>
            <p:nvPr/>
          </p:nvSpPr>
          <p:spPr>
            <a:xfrm>
              <a:off x="19050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Output Terminal</a:t>
              </a:r>
              <a:endParaRPr b="1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8"/>
            <p:cNvSpPr txBox="1"/>
            <p:nvPr/>
          </p:nvSpPr>
          <p:spPr>
            <a:xfrm>
              <a:off x="190500" y="523875"/>
              <a:ext cx="3762300" cy="26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$ tclsh while.tcl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x is 0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x is 1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x is 2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x is 3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x is 4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x is 5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9"/>
          <p:cNvPicPr preferRelativeResize="0"/>
          <p:nvPr/>
        </p:nvPicPr>
        <p:blipFill rotWithShape="1">
          <a:blip r:embed="rId3">
            <a:alphaModFix/>
          </a:blip>
          <a:srcRect b="32367" l="21552" r="20057" t="20258"/>
          <a:stretch/>
        </p:blipFill>
        <p:spPr>
          <a:xfrm>
            <a:off x="8001000" y="0"/>
            <a:ext cx="1142999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144839" y="226270"/>
            <a:ext cx="8178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For Loop</a:t>
            </a:r>
            <a:endParaRPr b="1" i="0" sz="1100" u="none" cap="none" strike="noStrike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202" name="Google Shape;202;p19"/>
          <p:cNvGrpSpPr/>
          <p:nvPr/>
        </p:nvGrpSpPr>
        <p:grpSpPr>
          <a:xfrm>
            <a:off x="285750" y="809625"/>
            <a:ext cx="7620000" cy="285900"/>
            <a:chOff x="0" y="0"/>
            <a:chExt cx="7620000" cy="285900"/>
          </a:xfrm>
        </p:grpSpPr>
        <p:sp>
          <p:nvSpPr>
            <p:cNvPr id="203" name="Google Shape;203;p19"/>
            <p:cNvSpPr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9"/>
            <p:cNvSpPr txBox="1"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Demonstrating loops in TCL using the </a:t>
              </a:r>
              <a:r>
                <a:rPr b="1" i="0" lang="en" sz="1200">
                  <a:solidFill>
                    <a:srgbClr val="0F172A"/>
                  </a:solidFill>
                  <a:highlight>
                    <a:srgbClr val="E2E8F0"/>
                  </a:highlight>
                  <a:latin typeface="Arial"/>
                  <a:ea typeface="Arial"/>
                  <a:cs typeface="Arial"/>
                  <a:sym typeface="Arial"/>
                </a:rPr>
                <a:t>for</a:t>
              </a:r>
              <a:r>
                <a:rPr b="0" i="0"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command.</a:t>
              </a:r>
              <a:endParaRPr b="0" i="0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5" name="Google Shape;205;p19"/>
          <p:cNvSpPr txBox="1"/>
          <p:nvPr/>
        </p:nvSpPr>
        <p:spPr>
          <a:xfrm>
            <a:off x="4714875" y="4762425"/>
            <a:ext cx="436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https://github.com/Mihir-Mithani/TCL_Programing</a:t>
            </a:r>
            <a:endParaRPr/>
          </a:p>
        </p:txBody>
      </p:sp>
      <p:grpSp>
        <p:nvGrpSpPr>
          <p:cNvPr id="206" name="Google Shape;206;p19"/>
          <p:cNvGrpSpPr/>
          <p:nvPr/>
        </p:nvGrpSpPr>
        <p:grpSpPr>
          <a:xfrm>
            <a:off x="285750" y="1285875"/>
            <a:ext cx="4143300" cy="3286200"/>
            <a:chOff x="0" y="0"/>
            <a:chExt cx="4143300" cy="3286200"/>
          </a:xfrm>
        </p:grpSpPr>
        <p:sp>
          <p:nvSpPr>
            <p:cNvPr id="207" name="Google Shape;207;p19"/>
            <p:cNvSpPr/>
            <p:nvPr/>
          </p:nvSpPr>
          <p:spPr>
            <a:xfrm>
              <a:off x="0" y="0"/>
              <a:ext cx="4143300" cy="3286200"/>
            </a:xfrm>
            <a:prstGeom prst="roundRect">
              <a:avLst>
                <a:gd fmla="val 2318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9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9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9"/>
            <p:cNvSpPr/>
            <p:nvPr/>
          </p:nvSpPr>
          <p:spPr>
            <a:xfrm>
              <a:off x="13335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9"/>
            <p:cNvSpPr/>
            <p:nvPr/>
          </p:nvSpPr>
          <p:spPr>
            <a:xfrm>
              <a:off x="30480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9"/>
            <p:cNvSpPr/>
            <p:nvPr/>
          </p:nvSpPr>
          <p:spPr>
            <a:xfrm>
              <a:off x="47625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3" name="Google Shape;213;p19"/>
            <p:cNvGrpSpPr/>
            <p:nvPr/>
          </p:nvGrpSpPr>
          <p:grpSpPr>
            <a:xfrm>
              <a:off x="762000" y="0"/>
              <a:ext cx="1905000" cy="381000"/>
              <a:chOff x="0" y="0"/>
              <a:chExt cx="1905000" cy="381000"/>
            </a:xfrm>
          </p:grpSpPr>
          <p:sp>
            <p:nvSpPr>
              <p:cNvPr id="214" name="Google Shape;214;p19"/>
              <p:cNvSpPr/>
              <p:nvPr/>
            </p:nvSpPr>
            <p:spPr>
              <a:xfrm>
                <a:off x="0" y="0"/>
                <a:ext cx="1905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19"/>
              <p:cNvSpPr txBox="1"/>
              <p:nvPr/>
            </p:nvSpPr>
            <p:spPr>
              <a:xfrm>
                <a:off x="0" y="0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100">
                    <a:solidFill>
                      <a:srgbClr val="94A3B8"/>
                    </a:solidFill>
                    <a:latin typeface="Arial"/>
                    <a:ea typeface="Arial"/>
                    <a:cs typeface="Arial"/>
                    <a:sym typeface="Arial"/>
                  </a:rPr>
                  <a:t>for.tcl</a:t>
                </a:r>
                <a:endParaRPr b="1" i="0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6" name="Google Shape;216;p19"/>
            <p:cNvGrpSpPr/>
            <p:nvPr/>
          </p:nvGrpSpPr>
          <p:grpSpPr>
            <a:xfrm>
              <a:off x="190500" y="523875"/>
              <a:ext cx="3762300" cy="2619300"/>
              <a:chOff x="0" y="0"/>
              <a:chExt cx="3762300" cy="2619300"/>
            </a:xfrm>
          </p:grpSpPr>
          <p:sp>
            <p:nvSpPr>
              <p:cNvPr id="217" name="Google Shape;217;p19"/>
              <p:cNvSpPr/>
              <p:nvPr/>
            </p:nvSpPr>
            <p:spPr>
              <a:xfrm>
                <a:off x="0" y="0"/>
                <a:ext cx="3762300" cy="2619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9"/>
              <p:cNvSpPr txBox="1"/>
              <p:nvPr/>
            </p:nvSpPr>
            <p:spPr>
              <a:xfrm>
                <a:off x="0" y="0"/>
                <a:ext cx="3762300" cy="26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050">
                    <a:solidFill>
                      <a:srgbClr val="F43F5E"/>
                    </a:solidFill>
                    <a:latin typeface="Arial"/>
                    <a:ea typeface="Arial"/>
                    <a:cs typeface="Arial"/>
                    <a:sym typeface="Arial"/>
                  </a:rPr>
                  <a:t>for</a:t>
                </a:r>
                <a:r>
                  <a:rPr b="0" i="0" lang="en" sz="1050">
                    <a:solidFill>
                      <a:srgbClr val="F8FAFC"/>
                    </a:solidFill>
                    <a:latin typeface="Arial"/>
                    <a:ea typeface="Arial"/>
                    <a:cs typeface="Arial"/>
                    <a:sym typeface="Arial"/>
                  </a:rPr>
                  <a:t> {</a:t>
                </a:r>
                <a:r>
                  <a:rPr b="1" i="0" lang="en" sz="1050">
                    <a:solidFill>
                      <a:srgbClr val="F43F5E"/>
                    </a:solidFill>
                    <a:latin typeface="Arial"/>
                    <a:ea typeface="Arial"/>
                    <a:cs typeface="Arial"/>
                    <a:sym typeface="Arial"/>
                  </a:rPr>
                  <a:t>puts</a:t>
                </a:r>
                <a:r>
                  <a:rPr b="0" i="0" lang="en" sz="1050">
                    <a:solidFill>
                      <a:srgbClr val="F8FAFC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b="0" i="0" lang="en" sz="1050">
                    <a:solidFill>
                      <a:srgbClr val="38BDF8"/>
                    </a:solidFill>
                    <a:latin typeface="Arial"/>
                    <a:ea typeface="Arial"/>
                    <a:cs typeface="Arial"/>
                    <a:sym typeface="Arial"/>
                  </a:rPr>
                  <a:t>"Start"</a:t>
                </a:r>
                <a:r>
                  <a:rPr b="0" i="0" lang="en" sz="1050">
                    <a:solidFill>
                      <a:srgbClr val="F8FAFC"/>
                    </a:solidFill>
                    <a:latin typeface="Arial"/>
                    <a:ea typeface="Arial"/>
                    <a:cs typeface="Arial"/>
                    <a:sym typeface="Arial"/>
                  </a:rPr>
                  <a:t>; </a:t>
                </a:r>
                <a:r>
                  <a:rPr b="1" i="0" lang="en" sz="1050">
                    <a:solidFill>
                      <a:srgbClr val="F43F5E"/>
                    </a:solidFill>
                    <a:latin typeface="Arial"/>
                    <a:ea typeface="Arial"/>
                    <a:cs typeface="Arial"/>
                    <a:sym typeface="Arial"/>
                  </a:rPr>
                  <a:t>set</a:t>
                </a:r>
                <a:r>
                  <a:rPr b="0" i="0" lang="en" sz="1050">
                    <a:solidFill>
                      <a:srgbClr val="F8FAFC"/>
                    </a:solidFill>
                    <a:latin typeface="Arial"/>
                    <a:ea typeface="Arial"/>
                    <a:cs typeface="Arial"/>
                    <a:sym typeface="Arial"/>
                  </a:rPr>
                  <a:t> i </a:t>
                </a:r>
                <a:r>
                  <a:rPr b="0" i="0" lang="en" sz="1050">
                    <a:solidFill>
                      <a:srgbClr val="38BDF8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r>
                  <a:rPr b="0" i="0" lang="en" sz="1050">
                    <a:solidFill>
                      <a:srgbClr val="F8FAFC"/>
                    </a:solidFill>
                    <a:latin typeface="Arial"/>
                    <a:ea typeface="Arial"/>
                    <a:cs typeface="Arial"/>
                    <a:sym typeface="Arial"/>
                  </a:rPr>
                  <a:t>} {</a:t>
                </a:r>
                <a:r>
                  <a:rPr b="0" i="0" lang="en" sz="1050">
                    <a:solidFill>
                      <a:srgbClr val="38BDF8"/>
                    </a:solidFill>
                    <a:latin typeface="Arial"/>
                    <a:ea typeface="Arial"/>
                    <a:cs typeface="Arial"/>
                    <a:sym typeface="Arial"/>
                  </a:rPr>
                  <a:t>$i</a:t>
                </a:r>
                <a:r>
                  <a:rPr b="0" i="0" lang="en" sz="1050">
                    <a:solidFill>
                      <a:srgbClr val="F8FAFC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b="1" i="0" lang="en" sz="1050">
                    <a:solidFill>
                      <a:srgbClr val="F43F5E"/>
                    </a:solidFill>
                    <a:latin typeface="Arial"/>
                    <a:ea typeface="Arial"/>
                    <a:cs typeface="Arial"/>
                    <a:sym typeface="Arial"/>
                  </a:rPr>
                  <a:t>&lt;</a:t>
                </a:r>
                <a:r>
                  <a:rPr b="0" i="0" lang="en" sz="1050">
                    <a:solidFill>
                      <a:srgbClr val="F8FAFC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b="0" i="0" lang="en" sz="1050">
                    <a:solidFill>
                      <a:srgbClr val="38BDF8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r>
                  <a:rPr b="0" i="0" lang="en" sz="1050">
                    <a:solidFill>
                      <a:srgbClr val="F8FAFC"/>
                    </a:solidFill>
                    <a:latin typeface="Arial"/>
                    <a:ea typeface="Arial"/>
                    <a:cs typeface="Arial"/>
                    <a:sym typeface="Arial"/>
                  </a:rPr>
                  <a:t>} {</a:t>
                </a:r>
                <a:endParaRPr b="0" i="0" sz="105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i="0" lang="en" sz="1050">
                    <a:solidFill>
                      <a:srgbClr val="F43F5E"/>
                    </a:solidFill>
                    <a:latin typeface="Arial"/>
                    <a:ea typeface="Arial"/>
                    <a:cs typeface="Arial"/>
                    <a:sym typeface="Arial"/>
                  </a:rPr>
                  <a:t>incr</a:t>
                </a:r>
                <a:r>
                  <a:rPr b="0" i="0" lang="en" sz="1050">
                    <a:solidFill>
                      <a:srgbClr val="F8FAFC"/>
                    </a:solidFill>
                    <a:latin typeface="Arial"/>
                    <a:ea typeface="Arial"/>
                    <a:cs typeface="Arial"/>
                    <a:sym typeface="Arial"/>
                  </a:rPr>
                  <a:t> i; </a:t>
                </a:r>
                <a:r>
                  <a:rPr b="1" i="0" lang="en" sz="1050">
                    <a:solidFill>
                      <a:srgbClr val="F43F5E"/>
                    </a:solidFill>
                    <a:latin typeface="Arial"/>
                    <a:ea typeface="Arial"/>
                    <a:cs typeface="Arial"/>
                    <a:sym typeface="Arial"/>
                  </a:rPr>
                  <a:t>puts</a:t>
                </a:r>
                <a:r>
                  <a:rPr b="0" i="0" lang="en" sz="1050">
                    <a:solidFill>
                      <a:srgbClr val="F8FAFC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b="0" i="0" lang="en" sz="1050">
                    <a:solidFill>
                      <a:srgbClr val="38BDF8"/>
                    </a:solidFill>
                    <a:latin typeface="Arial"/>
                    <a:ea typeface="Arial"/>
                    <a:cs typeface="Arial"/>
                    <a:sym typeface="Arial"/>
                  </a:rPr>
                  <a:t>"I is after incr : $i"</a:t>
                </a:r>
                <a:endParaRPr b="0" i="0" sz="105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i="0" lang="en" sz="1050">
                    <a:solidFill>
                      <a:srgbClr val="F8FAFC"/>
                    </a:solidFill>
                    <a:latin typeface="Arial"/>
                    <a:ea typeface="Arial"/>
                    <a:cs typeface="Arial"/>
                    <a:sym typeface="Arial"/>
                  </a:rPr>
                  <a:t>} {</a:t>
                </a:r>
                <a:endParaRPr b="0" i="0" sz="105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i="0" lang="en" sz="1050">
                    <a:solidFill>
                      <a:srgbClr val="F43F5E"/>
                    </a:solidFill>
                    <a:latin typeface="Arial"/>
                    <a:ea typeface="Arial"/>
                    <a:cs typeface="Arial"/>
                    <a:sym typeface="Arial"/>
                  </a:rPr>
                  <a:t>puts</a:t>
                </a:r>
                <a:r>
                  <a:rPr b="0" i="0" lang="en" sz="1050">
                    <a:solidFill>
                      <a:srgbClr val="F8FAFC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b="0" i="0" lang="en" sz="1050">
                    <a:solidFill>
                      <a:srgbClr val="38BDF8"/>
                    </a:solidFill>
                    <a:latin typeface="Arial"/>
                    <a:ea typeface="Arial"/>
                    <a:cs typeface="Arial"/>
                    <a:sym typeface="Arial"/>
                  </a:rPr>
                  <a:t>"I inside first loop : $i"</a:t>
                </a:r>
                <a:endParaRPr b="0" i="0" sz="105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i="0" lang="en" sz="1050">
                    <a:solidFill>
                      <a:srgbClr val="F8FAFC"/>
                    </a:solidFill>
                    <a:latin typeface="Arial"/>
                    <a:ea typeface="Arial"/>
                    <a:cs typeface="Arial"/>
                    <a:sym typeface="Arial"/>
                  </a:rPr>
                  <a:t>}</a:t>
                </a:r>
                <a:endParaRPr b="0" i="0" sz="105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9" name="Google Shape;219;p19"/>
          <p:cNvGrpSpPr/>
          <p:nvPr/>
        </p:nvGrpSpPr>
        <p:grpSpPr>
          <a:xfrm>
            <a:off x="4714875" y="1285875"/>
            <a:ext cx="4143300" cy="3286200"/>
            <a:chOff x="0" y="0"/>
            <a:chExt cx="4143300" cy="3286200"/>
          </a:xfrm>
        </p:grpSpPr>
        <p:sp>
          <p:nvSpPr>
            <p:cNvPr id="220" name="Google Shape;220;p19"/>
            <p:cNvSpPr/>
            <p:nvPr/>
          </p:nvSpPr>
          <p:spPr>
            <a:xfrm>
              <a:off x="0" y="0"/>
              <a:ext cx="4143300" cy="3286200"/>
            </a:xfrm>
            <a:prstGeom prst="roundRect">
              <a:avLst>
                <a:gd fmla="val 2318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9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9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3" name="Google Shape;223;p19"/>
            <p:cNvGrpSpPr/>
            <p:nvPr/>
          </p:nvGrpSpPr>
          <p:grpSpPr>
            <a:xfrm>
              <a:off x="190500" y="0"/>
              <a:ext cx="1905000" cy="381000"/>
              <a:chOff x="0" y="0"/>
              <a:chExt cx="1905000" cy="381000"/>
            </a:xfrm>
          </p:grpSpPr>
          <p:sp>
            <p:nvSpPr>
              <p:cNvPr id="224" name="Google Shape;224;p19"/>
              <p:cNvSpPr/>
              <p:nvPr/>
            </p:nvSpPr>
            <p:spPr>
              <a:xfrm>
                <a:off x="0" y="0"/>
                <a:ext cx="1905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9"/>
              <p:cNvSpPr txBox="1"/>
              <p:nvPr/>
            </p:nvSpPr>
            <p:spPr>
              <a:xfrm>
                <a:off x="0" y="0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100">
                    <a:solidFill>
                      <a:srgbClr val="94A3B8"/>
                    </a:solidFill>
                    <a:latin typeface="Arial"/>
                    <a:ea typeface="Arial"/>
                    <a:cs typeface="Arial"/>
                    <a:sym typeface="Arial"/>
                  </a:rPr>
                  <a:t>Output Terminal</a:t>
                </a:r>
                <a:endParaRPr b="1" i="0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6" name="Google Shape;226;p19"/>
            <p:cNvGrpSpPr/>
            <p:nvPr/>
          </p:nvGrpSpPr>
          <p:grpSpPr>
            <a:xfrm>
              <a:off x="190500" y="523875"/>
              <a:ext cx="3762300" cy="2619300"/>
              <a:chOff x="0" y="0"/>
              <a:chExt cx="3762300" cy="2619300"/>
            </a:xfrm>
          </p:grpSpPr>
          <p:sp>
            <p:nvSpPr>
              <p:cNvPr id="227" name="Google Shape;227;p19"/>
              <p:cNvSpPr/>
              <p:nvPr/>
            </p:nvSpPr>
            <p:spPr>
              <a:xfrm>
                <a:off x="0" y="0"/>
                <a:ext cx="3762300" cy="2619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19"/>
              <p:cNvSpPr txBox="1"/>
              <p:nvPr/>
            </p:nvSpPr>
            <p:spPr>
              <a:xfrm>
                <a:off x="0" y="0"/>
                <a:ext cx="3762300" cy="26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110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$ tclsh for.tcl</a:t>
                </a:r>
                <a:endParaRPr b="0" i="0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i="0" lang="en" sz="1100">
                    <a:solidFill>
                      <a:srgbClr val="38BDF8"/>
                    </a:solidFill>
                    <a:latin typeface="Arial"/>
                    <a:ea typeface="Arial"/>
                    <a:cs typeface="Arial"/>
                    <a:sym typeface="Arial"/>
                  </a:rPr>
                  <a:t>Start</a:t>
                </a:r>
                <a:endParaRPr b="0" i="0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i="0" lang="en" sz="1100">
                    <a:solidFill>
                      <a:srgbClr val="38BDF8"/>
                    </a:solidFill>
                    <a:latin typeface="Arial"/>
                    <a:ea typeface="Arial"/>
                    <a:cs typeface="Arial"/>
                    <a:sym typeface="Arial"/>
                  </a:rPr>
                  <a:t>I inside first loop : 0</a:t>
                </a:r>
                <a:endParaRPr b="0" i="0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i="0" lang="en" sz="1100">
                    <a:solidFill>
                      <a:srgbClr val="38BDF8"/>
                    </a:solidFill>
                    <a:latin typeface="Arial"/>
                    <a:ea typeface="Arial"/>
                    <a:cs typeface="Arial"/>
                    <a:sym typeface="Arial"/>
                  </a:rPr>
                  <a:t>I is after incr : 1</a:t>
                </a:r>
                <a:endParaRPr b="0" i="0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i="0" lang="en" sz="1100">
                    <a:solidFill>
                      <a:srgbClr val="38BDF8"/>
                    </a:solidFill>
                    <a:latin typeface="Arial"/>
                    <a:ea typeface="Arial"/>
                    <a:cs typeface="Arial"/>
                    <a:sym typeface="Arial"/>
                  </a:rPr>
                  <a:t>I inside first loop : 1</a:t>
                </a:r>
                <a:endParaRPr b="0" i="0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i="0" lang="en" sz="1100">
                    <a:solidFill>
                      <a:srgbClr val="38BDF8"/>
                    </a:solidFill>
                    <a:latin typeface="Arial"/>
                    <a:ea typeface="Arial"/>
                    <a:cs typeface="Arial"/>
                    <a:sym typeface="Arial"/>
                  </a:rPr>
                  <a:t>I is after incr : 2</a:t>
                </a:r>
                <a:endParaRPr b="0" i="0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0"/>
          <p:cNvPicPr preferRelativeResize="0"/>
          <p:nvPr/>
        </p:nvPicPr>
        <p:blipFill rotWithShape="1">
          <a:blip r:embed="rId3">
            <a:alphaModFix/>
          </a:blip>
          <a:srcRect b="32367" l="21552" r="20057" t="20258"/>
          <a:stretch/>
        </p:blipFill>
        <p:spPr>
          <a:xfrm>
            <a:off x="8001000" y="0"/>
            <a:ext cx="1142999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0"/>
          <p:cNvSpPr txBox="1"/>
          <p:nvPr/>
        </p:nvSpPr>
        <p:spPr>
          <a:xfrm>
            <a:off x="4714875" y="4762425"/>
            <a:ext cx="436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https://github.com/Mihir-Mithani/TCL_Programing</a:t>
            </a:r>
            <a:endParaRPr/>
          </a:p>
        </p:txBody>
      </p:sp>
      <p:grpSp>
        <p:nvGrpSpPr>
          <p:cNvPr id="235" name="Google Shape;235;p20"/>
          <p:cNvGrpSpPr/>
          <p:nvPr/>
        </p:nvGrpSpPr>
        <p:grpSpPr>
          <a:xfrm>
            <a:off x="285750" y="809625"/>
            <a:ext cx="7620000" cy="285900"/>
            <a:chOff x="0" y="0"/>
            <a:chExt cx="7620000" cy="285900"/>
          </a:xfrm>
        </p:grpSpPr>
        <p:sp>
          <p:nvSpPr>
            <p:cNvPr id="236" name="Google Shape;236;p20"/>
            <p:cNvSpPr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0"/>
            <p:cNvSpPr txBox="1"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TCL's </a:t>
              </a:r>
              <a:r>
                <a:rPr b="1" lang="en" sz="1200">
                  <a:solidFill>
                    <a:srgbClr val="0F172A"/>
                  </a:solidFill>
                  <a:highlight>
                    <a:srgbClr val="E2E8F0"/>
                  </a:highlight>
                  <a:latin typeface="Arial"/>
                  <a:ea typeface="Arial"/>
                  <a:cs typeface="Arial"/>
                  <a:sym typeface="Arial"/>
                </a:rPr>
                <a:t>for</a:t>
              </a:r>
              <a:r>
                <a:rPr b="0"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loop syntax is uniquely structured using brace-enclosed blocks.</a:t>
              </a:r>
              <a:endParaRPr b="0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8" name="Google Shape;238;p20"/>
          <p:cNvGrpSpPr/>
          <p:nvPr/>
        </p:nvGrpSpPr>
        <p:grpSpPr>
          <a:xfrm>
            <a:off x="285750" y="1285875"/>
            <a:ext cx="4143300" cy="3048000"/>
            <a:chOff x="0" y="0"/>
            <a:chExt cx="4143300" cy="3048000"/>
          </a:xfrm>
        </p:grpSpPr>
        <p:sp>
          <p:nvSpPr>
            <p:cNvPr id="239" name="Google Shape;239;p20"/>
            <p:cNvSpPr/>
            <p:nvPr/>
          </p:nvSpPr>
          <p:spPr>
            <a:xfrm>
              <a:off x="0" y="0"/>
              <a:ext cx="4143300" cy="3048000"/>
            </a:xfrm>
            <a:prstGeom prst="roundRect">
              <a:avLst>
                <a:gd fmla="val 25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0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0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0"/>
            <p:cNvSpPr/>
            <p:nvPr/>
          </p:nvSpPr>
          <p:spPr>
            <a:xfrm>
              <a:off x="7620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0"/>
            <p:cNvSpPr/>
            <p:nvPr/>
          </p:nvSpPr>
          <p:spPr>
            <a:xfrm>
              <a:off x="24765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0"/>
            <p:cNvSpPr/>
            <p:nvPr/>
          </p:nvSpPr>
          <p:spPr>
            <a:xfrm>
              <a:off x="41910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0"/>
            <p:cNvSpPr txBox="1"/>
            <p:nvPr/>
          </p:nvSpPr>
          <p:spPr>
            <a:xfrm>
              <a:off x="762000" y="0"/>
              <a:ext cx="2619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syntax.tcl</a:t>
              </a:r>
              <a:endParaRPr b="1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0"/>
            <p:cNvSpPr txBox="1"/>
            <p:nvPr/>
          </p:nvSpPr>
          <p:spPr>
            <a:xfrm>
              <a:off x="238125" y="571500"/>
              <a:ext cx="36672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for</a:t>
              </a:r>
              <a:r>
                <a:rPr b="1" lang="en" sz="13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{</a:t>
              </a:r>
              <a:r>
                <a:rPr b="1" lang="en" sz="1300">
                  <a:solidFill>
                    <a:srgbClr val="FB923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initialization</a:t>
              </a:r>
              <a:r>
                <a:rPr b="1" lang="en" sz="13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 {</a:t>
              </a:r>
              <a:r>
                <a:rPr b="1" lang="en" sz="13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condition</a:t>
              </a:r>
              <a:r>
                <a:rPr b="1" lang="en" sz="13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 {</a:t>
              </a:r>
              <a:r>
                <a:rPr b="1" lang="en" sz="13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increment</a:t>
              </a:r>
              <a:r>
                <a:rPr b="1" lang="en" sz="13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 {</a:t>
              </a:r>
              <a:endParaRPr b="1" sz="130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85750" marR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statement(s);</a:t>
              </a:r>
              <a:endParaRPr b="1" sz="130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1" sz="130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47" name="Google Shape;247;p20"/>
          <p:cNvGrpSpPr/>
          <p:nvPr/>
        </p:nvGrpSpPr>
        <p:grpSpPr>
          <a:xfrm>
            <a:off x="4714875" y="1285875"/>
            <a:ext cx="4143300" cy="3048000"/>
            <a:chOff x="0" y="0"/>
            <a:chExt cx="4143300" cy="3048000"/>
          </a:xfrm>
        </p:grpSpPr>
        <p:sp>
          <p:nvSpPr>
            <p:cNvPr id="248" name="Google Shape;248;p20"/>
            <p:cNvSpPr/>
            <p:nvPr/>
          </p:nvSpPr>
          <p:spPr>
            <a:xfrm>
              <a:off x="0" y="0"/>
              <a:ext cx="4143300" cy="3048000"/>
            </a:xfrm>
            <a:prstGeom prst="roundRect">
              <a:avLst>
                <a:gd fmla="val 2500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0"/>
            <p:cNvSpPr/>
            <p:nvPr/>
          </p:nvSpPr>
          <p:spPr>
            <a:xfrm>
              <a:off x="0" y="0"/>
              <a:ext cx="4143300" cy="3048000"/>
            </a:xfrm>
            <a:prstGeom prst="roundRect">
              <a:avLst>
                <a:gd fmla="val 2500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0"/>
            <p:cNvSpPr txBox="1"/>
            <p:nvPr/>
          </p:nvSpPr>
          <p:spPr>
            <a:xfrm>
              <a:off x="190500" y="190500"/>
              <a:ext cx="37623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EA580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initialization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38100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Executed once before the loop starts to initialize loop variables (e.g., </a:t>
              </a:r>
              <a:r>
                <a:rPr lang="en" sz="1050">
                  <a:solidFill>
                    <a:srgbClr val="475569"/>
                  </a:solidFill>
                  <a:highlight>
                    <a:srgbClr val="F1F5F9"/>
                  </a:highlight>
                  <a:latin typeface="Arial"/>
                  <a:ea typeface="Arial"/>
                  <a:cs typeface="Arial"/>
                  <a:sym typeface="Arial"/>
                </a:rPr>
                <a:t>set i 0</a:t>
              </a:r>
              <a:r>
                <a:rPr lang="en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).</a:t>
              </a:r>
              <a:endParaRPr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596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condition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38100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Evaluated before each iteration. The loop body executes only if this returns true (e.g., </a:t>
              </a:r>
              <a:r>
                <a:rPr lang="en" sz="1050">
                  <a:solidFill>
                    <a:srgbClr val="475569"/>
                  </a:solidFill>
                  <a:highlight>
                    <a:srgbClr val="F1F5F9"/>
                  </a:highlight>
                  <a:latin typeface="Arial"/>
                  <a:ea typeface="Arial"/>
                  <a:cs typeface="Arial"/>
                  <a:sym typeface="Arial"/>
                </a:rPr>
                <a:t>$i &lt; 5</a:t>
              </a:r>
              <a:r>
                <a:rPr lang="en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).</a:t>
              </a:r>
              <a:endParaRPr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increment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38100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Executed at the end of each iteration to update loop control variables (e.g., </a:t>
              </a:r>
              <a:r>
                <a:rPr lang="en" sz="1050">
                  <a:solidFill>
                    <a:srgbClr val="475569"/>
                  </a:solidFill>
                  <a:highlight>
                    <a:srgbClr val="F1F5F9"/>
                  </a:highlight>
                  <a:latin typeface="Arial"/>
                  <a:ea typeface="Arial"/>
                  <a:cs typeface="Arial"/>
                  <a:sym typeface="Arial"/>
                </a:rPr>
                <a:t>incr i</a:t>
              </a:r>
              <a:r>
                <a:rPr lang="en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).</a:t>
              </a:r>
              <a:endParaRPr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D9770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statement(s)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381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The executable body of the loop containing logic performed during each cycle.</a:t>
              </a:r>
              <a:endParaRPr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1" name="Google Shape;251;p20"/>
          <p:cNvSpPr/>
          <p:nvPr/>
        </p:nvSpPr>
        <p:spPr>
          <a:xfrm>
            <a:off x="285750" y="381000"/>
            <a:ext cx="7620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For Loop Syntax</a:t>
            </a:r>
            <a:endParaRPr b="1" sz="24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1"/>
          <p:cNvPicPr preferRelativeResize="0"/>
          <p:nvPr/>
        </p:nvPicPr>
        <p:blipFill rotWithShape="1">
          <a:blip r:embed="rId3">
            <a:alphaModFix/>
          </a:blip>
          <a:srcRect b="32367" l="21552" r="20057" t="20258"/>
          <a:stretch/>
        </p:blipFill>
        <p:spPr>
          <a:xfrm>
            <a:off x="8001000" y="0"/>
            <a:ext cx="1142999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/>
          <p:nvPr/>
        </p:nvSpPr>
        <p:spPr>
          <a:xfrm>
            <a:off x="144839" y="226270"/>
            <a:ext cx="8178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Array</a:t>
            </a:r>
            <a:endParaRPr b="1" i="0" sz="1100" u="none" cap="none" strike="noStrike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4714875" y="4762425"/>
            <a:ext cx="436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https://github.com/Mihir-Mithani/TCL_Programing</a:t>
            </a:r>
            <a:endParaRPr/>
          </a:p>
        </p:txBody>
      </p:sp>
      <p:grpSp>
        <p:nvGrpSpPr>
          <p:cNvPr id="259" name="Google Shape;259;p21"/>
          <p:cNvGrpSpPr/>
          <p:nvPr/>
        </p:nvGrpSpPr>
        <p:grpSpPr>
          <a:xfrm>
            <a:off x="285750" y="809625"/>
            <a:ext cx="7620000" cy="285900"/>
            <a:chOff x="0" y="0"/>
            <a:chExt cx="7620000" cy="285900"/>
          </a:xfrm>
        </p:grpSpPr>
        <p:sp>
          <p:nvSpPr>
            <p:cNvPr id="260" name="Google Shape;260;p21"/>
            <p:cNvSpPr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1"/>
            <p:cNvSpPr txBox="1"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Demonstrating array creation and element retrieval in TCL.</a:t>
              </a:r>
              <a:endParaRPr b="0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2" name="Google Shape;262;p21"/>
          <p:cNvGrpSpPr/>
          <p:nvPr/>
        </p:nvGrpSpPr>
        <p:grpSpPr>
          <a:xfrm>
            <a:off x="285750" y="1285875"/>
            <a:ext cx="4143300" cy="3143400"/>
            <a:chOff x="0" y="0"/>
            <a:chExt cx="4143300" cy="3143400"/>
          </a:xfrm>
        </p:grpSpPr>
        <p:sp>
          <p:nvSpPr>
            <p:cNvPr id="263" name="Google Shape;263;p21"/>
            <p:cNvSpPr/>
            <p:nvPr/>
          </p:nvSpPr>
          <p:spPr>
            <a:xfrm>
              <a:off x="0" y="0"/>
              <a:ext cx="4143300" cy="3143400"/>
            </a:xfrm>
            <a:prstGeom prst="roundRect">
              <a:avLst>
                <a:gd fmla="val 2424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1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1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1"/>
            <p:cNvSpPr/>
            <p:nvPr/>
          </p:nvSpPr>
          <p:spPr>
            <a:xfrm>
              <a:off x="7620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1"/>
            <p:cNvSpPr/>
            <p:nvPr/>
          </p:nvSpPr>
          <p:spPr>
            <a:xfrm>
              <a:off x="24765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1"/>
            <p:cNvSpPr/>
            <p:nvPr/>
          </p:nvSpPr>
          <p:spPr>
            <a:xfrm>
              <a:off x="41910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1"/>
            <p:cNvSpPr txBox="1"/>
            <p:nvPr/>
          </p:nvSpPr>
          <p:spPr>
            <a:xfrm>
              <a:off x="762000" y="0"/>
              <a:ext cx="2619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array1.tcl</a:t>
              </a:r>
              <a:endParaRPr b="1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1"/>
            <p:cNvSpPr txBox="1"/>
            <p:nvPr/>
          </p:nvSpPr>
          <p:spPr>
            <a:xfrm>
              <a:off x="238125" y="571500"/>
              <a:ext cx="36672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#Array</a:t>
              </a:r>
              <a:endParaRPr b="1"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set</a:t>
              </a: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institute(0) </a:t>
              </a:r>
              <a:r>
                <a:rPr b="1" lang="en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VLSI</a:t>
              </a:r>
              <a:endParaRPr b="1" sz="110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set</a:t>
              </a: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institute(1) </a:t>
              </a:r>
              <a:r>
                <a:rPr b="1" lang="en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Intern</a:t>
              </a:r>
              <a:endParaRPr b="1" sz="110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set</a:t>
              </a: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institute(2) </a:t>
              </a:r>
              <a:r>
                <a:rPr b="1" lang="en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Mihir</a:t>
              </a:r>
              <a:endParaRPr b="1" sz="110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puts</a:t>
              </a: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" sz="11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"index 0 : $institute(0)"</a:t>
              </a:r>
              <a:endParaRPr b="1" sz="110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puts</a:t>
              </a: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" sz="11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"index 1 : $institute(1)"</a:t>
              </a:r>
              <a:endParaRPr b="1" sz="110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puts</a:t>
              </a: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" sz="11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"index 2 : $institute(2)"</a:t>
              </a:r>
              <a:endParaRPr b="1" sz="110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71" name="Google Shape;271;p21"/>
          <p:cNvGrpSpPr/>
          <p:nvPr/>
        </p:nvGrpSpPr>
        <p:grpSpPr>
          <a:xfrm>
            <a:off x="4714875" y="1285875"/>
            <a:ext cx="4143300" cy="3143400"/>
            <a:chOff x="0" y="0"/>
            <a:chExt cx="4143300" cy="3143400"/>
          </a:xfrm>
        </p:grpSpPr>
        <p:sp>
          <p:nvSpPr>
            <p:cNvPr id="272" name="Google Shape;272;p21"/>
            <p:cNvSpPr/>
            <p:nvPr/>
          </p:nvSpPr>
          <p:spPr>
            <a:xfrm>
              <a:off x="0" y="0"/>
              <a:ext cx="4143300" cy="3143400"/>
            </a:xfrm>
            <a:prstGeom prst="roundRect">
              <a:avLst>
                <a:gd fmla="val 2424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1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1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1"/>
            <p:cNvSpPr txBox="1"/>
            <p:nvPr/>
          </p:nvSpPr>
          <p:spPr>
            <a:xfrm>
              <a:off x="19050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Output Terminal</a:t>
              </a:r>
              <a:endParaRPr b="1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1"/>
            <p:cNvSpPr txBox="1"/>
            <p:nvPr/>
          </p:nvSpPr>
          <p:spPr>
            <a:xfrm>
              <a:off x="238125" y="571500"/>
              <a:ext cx="36672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$ tclsh array1.tcl</a:t>
              </a:r>
              <a:endParaRPr b="0"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index 0 : VLSI</a:t>
              </a:r>
              <a:endParaRPr b="1" sz="11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index 1 : Intern</a:t>
              </a:r>
              <a:endParaRPr b="1" sz="11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index 2 : Mihir</a:t>
              </a:r>
              <a:endParaRPr b="1" sz="11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22"/>
          <p:cNvPicPr preferRelativeResize="0"/>
          <p:nvPr/>
        </p:nvPicPr>
        <p:blipFill rotWithShape="1">
          <a:blip r:embed="rId3">
            <a:alphaModFix/>
          </a:blip>
          <a:srcRect b="32367" l="21552" r="20057" t="20258"/>
          <a:stretch/>
        </p:blipFill>
        <p:spPr>
          <a:xfrm>
            <a:off x="8001000" y="0"/>
            <a:ext cx="1142999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2"/>
          <p:cNvSpPr txBox="1"/>
          <p:nvPr/>
        </p:nvSpPr>
        <p:spPr>
          <a:xfrm>
            <a:off x="4714875" y="4762425"/>
            <a:ext cx="436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https://github.com/Mihir-Mithani/TCL_Programing</a:t>
            </a:r>
            <a:endParaRPr/>
          </a:p>
        </p:txBody>
      </p:sp>
      <p:grpSp>
        <p:nvGrpSpPr>
          <p:cNvPr id="283" name="Google Shape;283;p22"/>
          <p:cNvGrpSpPr/>
          <p:nvPr/>
        </p:nvGrpSpPr>
        <p:grpSpPr>
          <a:xfrm>
            <a:off x="285750" y="809625"/>
            <a:ext cx="7620000" cy="285900"/>
            <a:chOff x="0" y="0"/>
            <a:chExt cx="7620000" cy="285900"/>
          </a:xfrm>
        </p:grpSpPr>
        <p:sp>
          <p:nvSpPr>
            <p:cNvPr id="284" name="Google Shape;284;p22"/>
            <p:cNvSpPr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2"/>
            <p:cNvSpPr txBox="1"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Using a </a:t>
              </a:r>
              <a:r>
                <a:rPr b="1" lang="en" sz="1200">
                  <a:solidFill>
                    <a:srgbClr val="0F172A"/>
                  </a:solidFill>
                  <a:highlight>
                    <a:srgbClr val="E2E8F0"/>
                  </a:highlight>
                  <a:latin typeface="Arial"/>
                  <a:ea typeface="Arial"/>
                  <a:cs typeface="Arial"/>
                  <a:sym typeface="Arial"/>
                </a:rPr>
                <a:t>for</a:t>
              </a:r>
              <a:r>
                <a:rPr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loop to iterate over array elements in TCL.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6" name="Google Shape;286;p22"/>
          <p:cNvGrpSpPr/>
          <p:nvPr/>
        </p:nvGrpSpPr>
        <p:grpSpPr>
          <a:xfrm>
            <a:off x="285750" y="1285875"/>
            <a:ext cx="4143300" cy="3143400"/>
            <a:chOff x="0" y="0"/>
            <a:chExt cx="4143300" cy="3143400"/>
          </a:xfrm>
        </p:grpSpPr>
        <p:sp>
          <p:nvSpPr>
            <p:cNvPr id="287" name="Google Shape;287;p22"/>
            <p:cNvSpPr/>
            <p:nvPr/>
          </p:nvSpPr>
          <p:spPr>
            <a:xfrm>
              <a:off x="0" y="0"/>
              <a:ext cx="4143300" cy="3143400"/>
            </a:xfrm>
            <a:prstGeom prst="roundRect">
              <a:avLst>
                <a:gd fmla="val 2424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2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2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2"/>
            <p:cNvSpPr/>
            <p:nvPr/>
          </p:nvSpPr>
          <p:spPr>
            <a:xfrm>
              <a:off x="7620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2"/>
            <p:cNvSpPr/>
            <p:nvPr/>
          </p:nvSpPr>
          <p:spPr>
            <a:xfrm>
              <a:off x="24765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2"/>
            <p:cNvSpPr/>
            <p:nvPr/>
          </p:nvSpPr>
          <p:spPr>
            <a:xfrm>
              <a:off x="41910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2"/>
            <p:cNvSpPr txBox="1"/>
            <p:nvPr/>
          </p:nvSpPr>
          <p:spPr>
            <a:xfrm>
              <a:off x="762000" y="0"/>
              <a:ext cx="2619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array2.tcl</a:t>
              </a:r>
              <a:endParaRPr b="1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22"/>
            <p:cNvSpPr txBox="1"/>
            <p:nvPr/>
          </p:nvSpPr>
          <p:spPr>
            <a:xfrm>
              <a:off x="238125" y="571500"/>
              <a:ext cx="36672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#Iterating over Array</a:t>
              </a:r>
              <a:endParaRPr b="1"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set</a:t>
              </a: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institute(0) </a:t>
              </a:r>
              <a:r>
                <a:rPr b="1" lang="en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VLSI</a:t>
              </a:r>
              <a:endParaRPr b="1"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set</a:t>
              </a: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institute(1) </a:t>
              </a:r>
              <a:r>
                <a:rPr b="1" lang="en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Intern</a:t>
              </a:r>
              <a:endParaRPr b="1"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set</a:t>
              </a: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institute(2) </a:t>
              </a:r>
              <a:r>
                <a:rPr b="1" lang="en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Mihir</a:t>
              </a:r>
              <a:endParaRPr b="1"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for</a:t>
              </a: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{</a:t>
              </a:r>
              <a:r>
                <a:rPr b="1" lang="en" sz="11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set</a:t>
              </a: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i 0} {$i&lt;=2} {</a:t>
              </a:r>
              <a:r>
                <a:rPr b="1" lang="en" sz="11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incr</a:t>
              </a: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i} {</a:t>
              </a:r>
              <a:endParaRPr b="1"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8575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puts</a:t>
              </a:r>
              <a:r>
                <a:rPr b="1" lang="en" sz="11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" sz="11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"institute($i) : $institute($i)"</a:t>
              </a:r>
              <a:endParaRPr b="1"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1" sz="110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95" name="Google Shape;295;p22"/>
          <p:cNvGrpSpPr/>
          <p:nvPr/>
        </p:nvGrpSpPr>
        <p:grpSpPr>
          <a:xfrm>
            <a:off x="4714875" y="1285875"/>
            <a:ext cx="4143300" cy="3143400"/>
            <a:chOff x="0" y="0"/>
            <a:chExt cx="4143300" cy="3143400"/>
          </a:xfrm>
        </p:grpSpPr>
        <p:sp>
          <p:nvSpPr>
            <p:cNvPr id="296" name="Google Shape;296;p22"/>
            <p:cNvSpPr/>
            <p:nvPr/>
          </p:nvSpPr>
          <p:spPr>
            <a:xfrm>
              <a:off x="0" y="0"/>
              <a:ext cx="4143300" cy="3143400"/>
            </a:xfrm>
            <a:prstGeom prst="roundRect">
              <a:avLst>
                <a:gd fmla="val 2424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2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2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2"/>
            <p:cNvSpPr txBox="1"/>
            <p:nvPr/>
          </p:nvSpPr>
          <p:spPr>
            <a:xfrm>
              <a:off x="19050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Output Terminal</a:t>
              </a:r>
              <a:endParaRPr b="1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22"/>
            <p:cNvSpPr txBox="1"/>
            <p:nvPr/>
          </p:nvSpPr>
          <p:spPr>
            <a:xfrm>
              <a:off x="238125" y="571500"/>
              <a:ext cx="36672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$ tclsh array2.tcl</a:t>
              </a:r>
              <a:endParaRPr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institute(0) : VLSI</a:t>
              </a:r>
              <a:endParaRPr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institute(1) : Intern</a:t>
              </a:r>
              <a:endParaRPr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institute(2) : Mihir</a:t>
              </a:r>
              <a:endParaRPr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301" name="Google Shape;301;p22"/>
          <p:cNvSpPr/>
          <p:nvPr/>
        </p:nvSpPr>
        <p:spPr>
          <a:xfrm>
            <a:off x="285750" y="381000"/>
            <a:ext cx="7620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Array Iteration</a:t>
            </a:r>
            <a:endParaRPr b="1" sz="24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3"/>
          <p:cNvPicPr preferRelativeResize="0"/>
          <p:nvPr/>
        </p:nvPicPr>
        <p:blipFill rotWithShape="1">
          <a:blip r:embed="rId3">
            <a:alphaModFix/>
          </a:blip>
          <a:srcRect b="32367" l="21552" r="20057" t="20258"/>
          <a:stretch/>
        </p:blipFill>
        <p:spPr>
          <a:xfrm>
            <a:off x="8001000" y="0"/>
            <a:ext cx="1142999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3"/>
          <p:cNvSpPr/>
          <p:nvPr/>
        </p:nvSpPr>
        <p:spPr>
          <a:xfrm>
            <a:off x="144839" y="226270"/>
            <a:ext cx="8178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Associative Array</a:t>
            </a:r>
            <a:endParaRPr b="1" i="0" sz="1100" u="none" cap="none" strike="noStrike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08" name="Google Shape;308;p23"/>
          <p:cNvSpPr txBox="1"/>
          <p:nvPr/>
        </p:nvSpPr>
        <p:spPr>
          <a:xfrm>
            <a:off x="4714875" y="4762425"/>
            <a:ext cx="436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https://github.com/Mihir-Mithani/TCL_Programing</a:t>
            </a:r>
            <a:endParaRPr/>
          </a:p>
        </p:txBody>
      </p:sp>
      <p:grpSp>
        <p:nvGrpSpPr>
          <p:cNvPr id="309" name="Google Shape;309;p23"/>
          <p:cNvGrpSpPr/>
          <p:nvPr/>
        </p:nvGrpSpPr>
        <p:grpSpPr>
          <a:xfrm>
            <a:off x="285750" y="809625"/>
            <a:ext cx="7620000" cy="285900"/>
            <a:chOff x="0" y="0"/>
            <a:chExt cx="7620000" cy="285900"/>
          </a:xfrm>
        </p:grpSpPr>
        <p:sp>
          <p:nvSpPr>
            <p:cNvPr id="310" name="Google Shape;310;p23"/>
            <p:cNvSpPr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3"/>
            <p:cNvSpPr txBox="1"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Demonstrating associative array key-value pairs in TCL.</a:t>
              </a:r>
              <a:endParaRPr b="0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2" name="Google Shape;312;p23"/>
          <p:cNvGrpSpPr/>
          <p:nvPr/>
        </p:nvGrpSpPr>
        <p:grpSpPr>
          <a:xfrm>
            <a:off x="285750" y="1285875"/>
            <a:ext cx="4143300" cy="3143400"/>
            <a:chOff x="0" y="0"/>
            <a:chExt cx="4143300" cy="3143400"/>
          </a:xfrm>
        </p:grpSpPr>
        <p:sp>
          <p:nvSpPr>
            <p:cNvPr id="313" name="Google Shape;313;p23"/>
            <p:cNvSpPr/>
            <p:nvPr/>
          </p:nvSpPr>
          <p:spPr>
            <a:xfrm>
              <a:off x="0" y="0"/>
              <a:ext cx="4143300" cy="3143400"/>
            </a:xfrm>
            <a:prstGeom prst="roundRect">
              <a:avLst>
                <a:gd fmla="val 2423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3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3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3"/>
            <p:cNvSpPr/>
            <p:nvPr/>
          </p:nvSpPr>
          <p:spPr>
            <a:xfrm>
              <a:off x="7620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3"/>
            <p:cNvSpPr/>
            <p:nvPr/>
          </p:nvSpPr>
          <p:spPr>
            <a:xfrm>
              <a:off x="24765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3"/>
            <p:cNvSpPr/>
            <p:nvPr/>
          </p:nvSpPr>
          <p:spPr>
            <a:xfrm>
              <a:off x="41910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3"/>
            <p:cNvSpPr txBox="1"/>
            <p:nvPr/>
          </p:nvSpPr>
          <p:spPr>
            <a:xfrm>
              <a:off x="762000" y="0"/>
              <a:ext cx="26193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as_array.tcl</a:t>
              </a:r>
              <a:endParaRPr b="1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23"/>
            <p:cNvSpPr txBox="1"/>
            <p:nvPr/>
          </p:nvSpPr>
          <p:spPr>
            <a:xfrm>
              <a:off x="238125" y="571500"/>
              <a:ext cx="3667200" cy="2381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#Associative Array</a:t>
              </a:r>
              <a:endParaRPr b="1"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set</a:t>
              </a: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Employee1(Name) </a:t>
              </a:r>
              <a:r>
                <a:rPr b="1" lang="en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"Mihir"</a:t>
              </a:r>
              <a:endParaRPr b="1"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set</a:t>
              </a: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Employee1(Age) </a:t>
              </a:r>
              <a:r>
                <a:rPr b="1" lang="en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21</a:t>
              </a:r>
              <a:endParaRPr b="1"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puts</a:t>
              </a: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$Employee1(Name)</a:t>
              </a:r>
              <a:endParaRPr b="1"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puts</a:t>
              </a: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$Employee1(Age)</a:t>
              </a:r>
              <a:endParaRPr b="1"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21" name="Google Shape;321;p23"/>
          <p:cNvGrpSpPr/>
          <p:nvPr/>
        </p:nvGrpSpPr>
        <p:grpSpPr>
          <a:xfrm>
            <a:off x="4714875" y="1285875"/>
            <a:ext cx="4143300" cy="3143400"/>
            <a:chOff x="0" y="0"/>
            <a:chExt cx="4143300" cy="3143400"/>
          </a:xfrm>
        </p:grpSpPr>
        <p:sp>
          <p:nvSpPr>
            <p:cNvPr id="322" name="Google Shape;322;p23"/>
            <p:cNvSpPr/>
            <p:nvPr/>
          </p:nvSpPr>
          <p:spPr>
            <a:xfrm>
              <a:off x="0" y="0"/>
              <a:ext cx="4143300" cy="3143400"/>
            </a:xfrm>
            <a:prstGeom prst="roundRect">
              <a:avLst>
                <a:gd fmla="val 2423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3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3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3"/>
            <p:cNvSpPr txBox="1"/>
            <p:nvPr/>
          </p:nvSpPr>
          <p:spPr>
            <a:xfrm>
              <a:off x="190500" y="0"/>
              <a:ext cx="1905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Output Terminal</a:t>
              </a:r>
              <a:endParaRPr b="1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3"/>
            <p:cNvSpPr txBox="1"/>
            <p:nvPr/>
          </p:nvSpPr>
          <p:spPr>
            <a:xfrm>
              <a:off x="238125" y="571500"/>
              <a:ext cx="3667200" cy="2381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$ tclsh as_array.tcl</a:t>
              </a:r>
              <a:endParaRPr b="0"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Mihir</a:t>
              </a:r>
              <a:endParaRPr b="0"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21</a:t>
              </a:r>
              <a:endParaRPr b="0"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24"/>
          <p:cNvPicPr preferRelativeResize="0"/>
          <p:nvPr/>
        </p:nvPicPr>
        <p:blipFill rotWithShape="1">
          <a:blip r:embed="rId3">
            <a:alphaModFix/>
          </a:blip>
          <a:srcRect b="32367" l="21552" r="20057" t="20258"/>
          <a:stretch/>
        </p:blipFill>
        <p:spPr>
          <a:xfrm>
            <a:off x="8001000" y="0"/>
            <a:ext cx="1142999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4"/>
          <p:cNvSpPr txBox="1"/>
          <p:nvPr/>
        </p:nvSpPr>
        <p:spPr>
          <a:xfrm>
            <a:off x="4714875" y="4762425"/>
            <a:ext cx="436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https://github.com/Mihir-Mithani/TCL_Programing</a:t>
            </a:r>
            <a:endParaRPr/>
          </a:p>
        </p:txBody>
      </p:sp>
      <p:grpSp>
        <p:nvGrpSpPr>
          <p:cNvPr id="333" name="Google Shape;333;p24"/>
          <p:cNvGrpSpPr/>
          <p:nvPr/>
        </p:nvGrpSpPr>
        <p:grpSpPr>
          <a:xfrm>
            <a:off x="285750" y="809625"/>
            <a:ext cx="7620000" cy="285900"/>
            <a:chOff x="0" y="0"/>
            <a:chExt cx="7620000" cy="285900"/>
          </a:xfrm>
        </p:grpSpPr>
        <p:sp>
          <p:nvSpPr>
            <p:cNvPr id="334" name="Google Shape;334;p24"/>
            <p:cNvSpPr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4"/>
            <p:cNvSpPr txBox="1"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Using the </a:t>
              </a:r>
              <a:r>
                <a:rPr b="1" lang="en" sz="1200">
                  <a:solidFill>
                    <a:srgbClr val="0F172A"/>
                  </a:solidFill>
                  <a:highlight>
                    <a:srgbClr val="E2E8F0"/>
                  </a:highlight>
                  <a:latin typeface="Arial"/>
                  <a:ea typeface="Arial"/>
                  <a:cs typeface="Arial"/>
                  <a:sym typeface="Arial"/>
                </a:rPr>
                <a:t>array names</a:t>
              </a:r>
              <a:r>
                <a:rPr b="0"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command to retrieve all keys/indices from an associative array in TCL.</a:t>
              </a:r>
              <a:endParaRPr b="0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6" name="Google Shape;336;p24"/>
          <p:cNvGrpSpPr/>
          <p:nvPr/>
        </p:nvGrpSpPr>
        <p:grpSpPr>
          <a:xfrm>
            <a:off x="285750" y="1285875"/>
            <a:ext cx="4143300" cy="3143400"/>
            <a:chOff x="0" y="0"/>
            <a:chExt cx="4143300" cy="3143400"/>
          </a:xfrm>
        </p:grpSpPr>
        <p:sp>
          <p:nvSpPr>
            <p:cNvPr id="337" name="Google Shape;337;p24"/>
            <p:cNvSpPr/>
            <p:nvPr/>
          </p:nvSpPr>
          <p:spPr>
            <a:xfrm>
              <a:off x="0" y="0"/>
              <a:ext cx="4143300" cy="3143400"/>
            </a:xfrm>
            <a:prstGeom prst="roundRect">
              <a:avLst>
                <a:gd fmla="val 2424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4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4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4"/>
            <p:cNvSpPr/>
            <p:nvPr/>
          </p:nvSpPr>
          <p:spPr>
            <a:xfrm>
              <a:off x="7620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4"/>
            <p:cNvSpPr/>
            <p:nvPr/>
          </p:nvSpPr>
          <p:spPr>
            <a:xfrm>
              <a:off x="24765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4"/>
            <p:cNvSpPr/>
            <p:nvPr/>
          </p:nvSpPr>
          <p:spPr>
            <a:xfrm>
              <a:off x="41910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4"/>
            <p:cNvSpPr txBox="1"/>
            <p:nvPr/>
          </p:nvSpPr>
          <p:spPr>
            <a:xfrm>
              <a:off x="762000" y="0"/>
              <a:ext cx="2619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as_array1.tcl</a:t>
              </a:r>
              <a:endParaRPr b="1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24"/>
            <p:cNvSpPr txBox="1"/>
            <p:nvPr/>
          </p:nvSpPr>
          <p:spPr>
            <a:xfrm>
              <a:off x="238125" y="571500"/>
              <a:ext cx="36672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#Retrieving indices from Associative Array</a:t>
              </a:r>
              <a:endParaRPr b="1"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set</a:t>
              </a: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Employee1(Name) </a:t>
              </a:r>
              <a:r>
                <a:rPr b="1" lang="en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"Mihir"</a:t>
              </a:r>
              <a:endParaRPr b="1"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set</a:t>
              </a: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Employee1(Age) </a:t>
              </a:r>
              <a:r>
                <a:rPr b="1" lang="en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21</a:t>
              </a:r>
              <a:endParaRPr b="1"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puts</a:t>
              </a: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[</a:t>
              </a:r>
              <a:r>
                <a:rPr b="1" lang="en" sz="11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array</a:t>
              </a: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names Employee1]</a:t>
              </a:r>
              <a:endParaRPr b="1"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45" name="Google Shape;345;p24"/>
          <p:cNvGrpSpPr/>
          <p:nvPr/>
        </p:nvGrpSpPr>
        <p:grpSpPr>
          <a:xfrm>
            <a:off x="4714875" y="1285875"/>
            <a:ext cx="4143300" cy="3143400"/>
            <a:chOff x="0" y="0"/>
            <a:chExt cx="4143300" cy="3143400"/>
          </a:xfrm>
        </p:grpSpPr>
        <p:sp>
          <p:nvSpPr>
            <p:cNvPr id="346" name="Google Shape;346;p24"/>
            <p:cNvSpPr/>
            <p:nvPr/>
          </p:nvSpPr>
          <p:spPr>
            <a:xfrm>
              <a:off x="0" y="0"/>
              <a:ext cx="4143300" cy="3143400"/>
            </a:xfrm>
            <a:prstGeom prst="roundRect">
              <a:avLst>
                <a:gd fmla="val 2424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4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4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4"/>
            <p:cNvSpPr txBox="1"/>
            <p:nvPr/>
          </p:nvSpPr>
          <p:spPr>
            <a:xfrm>
              <a:off x="19050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Output Terminal</a:t>
              </a:r>
              <a:endParaRPr b="1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24"/>
            <p:cNvSpPr txBox="1"/>
            <p:nvPr/>
          </p:nvSpPr>
          <p:spPr>
            <a:xfrm>
              <a:off x="238125" y="571500"/>
              <a:ext cx="36672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$ tclsh as_array1.tcl</a:t>
              </a:r>
              <a:endParaRPr b="0"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Age Name</a:t>
              </a:r>
              <a:endParaRPr b="0"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351" name="Google Shape;351;p24"/>
          <p:cNvSpPr/>
          <p:nvPr/>
        </p:nvSpPr>
        <p:spPr>
          <a:xfrm>
            <a:off x="285750" y="381000"/>
            <a:ext cx="7620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Retrieving Indices</a:t>
            </a:r>
            <a:endParaRPr b="1" sz="24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25"/>
          <p:cNvPicPr preferRelativeResize="0"/>
          <p:nvPr/>
        </p:nvPicPr>
        <p:blipFill rotWithShape="1">
          <a:blip r:embed="rId3">
            <a:alphaModFix/>
          </a:blip>
          <a:srcRect b="32367" l="21552" r="20057" t="20258"/>
          <a:stretch/>
        </p:blipFill>
        <p:spPr>
          <a:xfrm>
            <a:off x="8001000" y="0"/>
            <a:ext cx="1142999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5"/>
          <p:cNvSpPr/>
          <p:nvPr/>
        </p:nvSpPr>
        <p:spPr>
          <a:xfrm>
            <a:off x="285750" y="381000"/>
            <a:ext cx="7620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Array Iteration</a:t>
            </a:r>
            <a:endParaRPr b="1" sz="24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58" name="Google Shape;358;p25"/>
          <p:cNvSpPr txBox="1"/>
          <p:nvPr/>
        </p:nvSpPr>
        <p:spPr>
          <a:xfrm>
            <a:off x="4714875" y="4762425"/>
            <a:ext cx="436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https://github.com/Mihir-Mithani/TCL_Programing</a:t>
            </a:r>
            <a:endParaRPr/>
          </a:p>
        </p:txBody>
      </p:sp>
      <p:grpSp>
        <p:nvGrpSpPr>
          <p:cNvPr id="359" name="Google Shape;359;p25"/>
          <p:cNvGrpSpPr/>
          <p:nvPr/>
        </p:nvGrpSpPr>
        <p:grpSpPr>
          <a:xfrm>
            <a:off x="285750" y="809625"/>
            <a:ext cx="7620000" cy="285900"/>
            <a:chOff x="0" y="0"/>
            <a:chExt cx="7620000" cy="285900"/>
          </a:xfrm>
        </p:grpSpPr>
        <p:sp>
          <p:nvSpPr>
            <p:cNvPr id="360" name="Google Shape;360;p25"/>
            <p:cNvSpPr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5"/>
            <p:cNvSpPr txBox="1"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Iterating through TCL array elements using a </a:t>
              </a:r>
              <a:r>
                <a:rPr b="1" lang="en" sz="1200">
                  <a:solidFill>
                    <a:srgbClr val="0F172A"/>
                  </a:solidFill>
                  <a:highlight>
                    <a:srgbClr val="E2E8F0"/>
                  </a:highlight>
                  <a:latin typeface="Arial"/>
                  <a:ea typeface="Arial"/>
                  <a:cs typeface="Arial"/>
                  <a:sym typeface="Arial"/>
                </a:rPr>
                <a:t>foreach</a:t>
              </a:r>
              <a:r>
                <a:rPr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loop and </a:t>
              </a:r>
              <a:r>
                <a:rPr b="1" lang="en" sz="1200">
                  <a:solidFill>
                    <a:srgbClr val="0F172A"/>
                  </a:solidFill>
                  <a:highlight>
                    <a:srgbClr val="E2E8F0"/>
                  </a:highlight>
                  <a:latin typeface="Arial"/>
                  <a:ea typeface="Arial"/>
                  <a:cs typeface="Arial"/>
                  <a:sym typeface="Arial"/>
                </a:rPr>
                <a:t>array names</a:t>
              </a:r>
              <a:r>
                <a:rPr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2" name="Google Shape;362;p25"/>
          <p:cNvGrpSpPr/>
          <p:nvPr/>
        </p:nvGrpSpPr>
        <p:grpSpPr>
          <a:xfrm>
            <a:off x="285750" y="1285875"/>
            <a:ext cx="4143300" cy="3143400"/>
            <a:chOff x="0" y="0"/>
            <a:chExt cx="4143300" cy="3143400"/>
          </a:xfrm>
        </p:grpSpPr>
        <p:sp>
          <p:nvSpPr>
            <p:cNvPr id="363" name="Google Shape;363;p25"/>
            <p:cNvSpPr/>
            <p:nvPr/>
          </p:nvSpPr>
          <p:spPr>
            <a:xfrm>
              <a:off x="0" y="0"/>
              <a:ext cx="4143300" cy="3143400"/>
            </a:xfrm>
            <a:prstGeom prst="roundRect">
              <a:avLst>
                <a:gd fmla="val 2424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5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5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5"/>
            <p:cNvSpPr/>
            <p:nvPr/>
          </p:nvSpPr>
          <p:spPr>
            <a:xfrm>
              <a:off x="7620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5"/>
            <p:cNvSpPr/>
            <p:nvPr/>
          </p:nvSpPr>
          <p:spPr>
            <a:xfrm>
              <a:off x="24765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5"/>
            <p:cNvSpPr/>
            <p:nvPr/>
          </p:nvSpPr>
          <p:spPr>
            <a:xfrm>
              <a:off x="41910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5"/>
            <p:cNvSpPr txBox="1"/>
            <p:nvPr/>
          </p:nvSpPr>
          <p:spPr>
            <a:xfrm>
              <a:off x="762000" y="0"/>
              <a:ext cx="2619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for_each1.tcl</a:t>
              </a:r>
              <a:endParaRPr b="1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25"/>
            <p:cNvSpPr txBox="1"/>
            <p:nvPr/>
          </p:nvSpPr>
          <p:spPr>
            <a:xfrm>
              <a:off x="238125" y="571500"/>
              <a:ext cx="36672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#Array</a:t>
              </a:r>
              <a:endParaRPr b="1"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set</a:t>
              </a: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institute(0) </a:t>
              </a:r>
              <a:r>
                <a:rPr b="1" lang="en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VLSI</a:t>
              </a:r>
              <a:endParaRPr b="1"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set</a:t>
              </a: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institute(1) </a:t>
              </a:r>
              <a:r>
                <a:rPr b="1" lang="en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Intern</a:t>
              </a:r>
              <a:endParaRPr b="1"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set</a:t>
              </a: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institute(2) </a:t>
              </a:r>
              <a:r>
                <a:rPr b="1" lang="en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Mihir</a:t>
              </a:r>
              <a:endParaRPr b="1"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foreach</a:t>
              </a: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index [</a:t>
              </a:r>
              <a:r>
                <a:rPr b="1" lang="en" sz="11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array</a:t>
              </a: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names institute] {</a:t>
              </a:r>
              <a:endParaRPr b="1"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905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puts</a:t>
              </a: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"institute($index) : $institute($index)"</a:t>
              </a:r>
              <a:endParaRPr b="1"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1"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71" name="Google Shape;371;p25"/>
          <p:cNvGrpSpPr/>
          <p:nvPr/>
        </p:nvGrpSpPr>
        <p:grpSpPr>
          <a:xfrm>
            <a:off x="4714875" y="1285875"/>
            <a:ext cx="4143300" cy="3143400"/>
            <a:chOff x="0" y="0"/>
            <a:chExt cx="4143300" cy="3143400"/>
          </a:xfrm>
        </p:grpSpPr>
        <p:sp>
          <p:nvSpPr>
            <p:cNvPr id="372" name="Google Shape;372;p25"/>
            <p:cNvSpPr/>
            <p:nvPr/>
          </p:nvSpPr>
          <p:spPr>
            <a:xfrm>
              <a:off x="0" y="0"/>
              <a:ext cx="4143300" cy="3143400"/>
            </a:xfrm>
            <a:prstGeom prst="roundRect">
              <a:avLst>
                <a:gd fmla="val 2424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5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5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5"/>
            <p:cNvSpPr txBox="1"/>
            <p:nvPr/>
          </p:nvSpPr>
          <p:spPr>
            <a:xfrm>
              <a:off x="19050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Output Terminal</a:t>
              </a:r>
              <a:endParaRPr b="1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25"/>
            <p:cNvSpPr txBox="1"/>
            <p:nvPr/>
          </p:nvSpPr>
          <p:spPr>
            <a:xfrm>
              <a:off x="238125" y="571500"/>
              <a:ext cx="36672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$ tclsh for_each1.tcl</a:t>
              </a:r>
              <a:endParaRPr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institute(0) : VLSI</a:t>
              </a:r>
              <a:endParaRPr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institute(1) : Intern</a:t>
              </a:r>
              <a:endParaRPr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institute(2) : Mihir</a:t>
              </a:r>
              <a:endParaRPr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26"/>
          <p:cNvPicPr preferRelativeResize="0"/>
          <p:nvPr/>
        </p:nvPicPr>
        <p:blipFill rotWithShape="1">
          <a:blip r:embed="rId3">
            <a:alphaModFix/>
          </a:blip>
          <a:srcRect b="32367" l="21552" r="20057" t="20258"/>
          <a:stretch/>
        </p:blipFill>
        <p:spPr>
          <a:xfrm>
            <a:off x="8001000" y="0"/>
            <a:ext cx="1142999" cy="1200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2" name="Google Shape;382;p26"/>
          <p:cNvGrpSpPr/>
          <p:nvPr/>
        </p:nvGrpSpPr>
        <p:grpSpPr>
          <a:xfrm>
            <a:off x="285750" y="381000"/>
            <a:ext cx="7620000" cy="428700"/>
            <a:chOff x="0" y="0"/>
            <a:chExt cx="7620000" cy="428700"/>
          </a:xfrm>
        </p:grpSpPr>
        <p:sp>
          <p:nvSpPr>
            <p:cNvPr id="383" name="Google Shape;383;p26"/>
            <p:cNvSpPr/>
            <p:nvPr/>
          </p:nvSpPr>
          <p:spPr>
            <a:xfrm>
              <a:off x="0" y="0"/>
              <a:ext cx="76200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6"/>
            <p:cNvSpPr txBox="1"/>
            <p:nvPr/>
          </p:nvSpPr>
          <p:spPr>
            <a:xfrm>
              <a:off x="0" y="0"/>
              <a:ext cx="7620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070C0"/>
                  </a:solidFill>
                  <a:latin typeface="Cambria"/>
                  <a:ea typeface="Cambria"/>
                  <a:cs typeface="Cambria"/>
                  <a:sym typeface="Cambria"/>
                </a:rPr>
                <a:t>Array Search</a:t>
              </a:r>
              <a:endParaRPr b="1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385" name="Google Shape;385;p26"/>
          <p:cNvSpPr txBox="1"/>
          <p:nvPr/>
        </p:nvSpPr>
        <p:spPr>
          <a:xfrm>
            <a:off x="4714875" y="4762425"/>
            <a:ext cx="436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https://github.com/Mihir-Mithani/TCL_Programing</a:t>
            </a:r>
            <a:endParaRPr/>
          </a:p>
        </p:txBody>
      </p:sp>
      <p:grpSp>
        <p:nvGrpSpPr>
          <p:cNvPr id="386" name="Google Shape;386;p26"/>
          <p:cNvGrpSpPr/>
          <p:nvPr/>
        </p:nvGrpSpPr>
        <p:grpSpPr>
          <a:xfrm>
            <a:off x="285750" y="809625"/>
            <a:ext cx="7620000" cy="285900"/>
            <a:chOff x="0" y="0"/>
            <a:chExt cx="7620000" cy="285900"/>
          </a:xfrm>
        </p:grpSpPr>
        <p:sp>
          <p:nvSpPr>
            <p:cNvPr id="387" name="Google Shape;387;p26"/>
            <p:cNvSpPr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6"/>
            <p:cNvSpPr txBox="1"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Finding a given element in an array using a </a:t>
              </a:r>
              <a:r>
                <a:rPr b="1" lang="en" sz="1200">
                  <a:solidFill>
                    <a:srgbClr val="0F172A"/>
                  </a:solidFill>
                  <a:highlight>
                    <a:srgbClr val="E2E8F0"/>
                  </a:highlight>
                  <a:latin typeface="Arial"/>
                  <a:ea typeface="Arial"/>
                  <a:cs typeface="Arial"/>
                  <a:sym typeface="Arial"/>
                </a:rPr>
                <a:t>foreach</a:t>
              </a:r>
              <a:r>
                <a:rPr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loop and matching conditions in TCL.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9" name="Google Shape;389;p26"/>
          <p:cNvGrpSpPr/>
          <p:nvPr/>
        </p:nvGrpSpPr>
        <p:grpSpPr>
          <a:xfrm>
            <a:off x="285750" y="1285875"/>
            <a:ext cx="4143300" cy="3143400"/>
            <a:chOff x="0" y="0"/>
            <a:chExt cx="4143300" cy="3143400"/>
          </a:xfrm>
        </p:grpSpPr>
        <p:sp>
          <p:nvSpPr>
            <p:cNvPr id="390" name="Google Shape;390;p26"/>
            <p:cNvSpPr/>
            <p:nvPr/>
          </p:nvSpPr>
          <p:spPr>
            <a:xfrm>
              <a:off x="0" y="0"/>
              <a:ext cx="4143300" cy="3143400"/>
            </a:xfrm>
            <a:prstGeom prst="roundRect">
              <a:avLst>
                <a:gd fmla="val 2424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6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6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6"/>
            <p:cNvSpPr/>
            <p:nvPr/>
          </p:nvSpPr>
          <p:spPr>
            <a:xfrm>
              <a:off x="7620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6"/>
            <p:cNvSpPr/>
            <p:nvPr/>
          </p:nvSpPr>
          <p:spPr>
            <a:xfrm>
              <a:off x="24765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6"/>
            <p:cNvSpPr/>
            <p:nvPr/>
          </p:nvSpPr>
          <p:spPr>
            <a:xfrm>
              <a:off x="41910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6" name="Google Shape;396;p26"/>
            <p:cNvGrpSpPr/>
            <p:nvPr/>
          </p:nvGrpSpPr>
          <p:grpSpPr>
            <a:xfrm>
              <a:off x="762000" y="0"/>
              <a:ext cx="2619300" cy="381000"/>
              <a:chOff x="0" y="0"/>
              <a:chExt cx="2619300" cy="381000"/>
            </a:xfrm>
          </p:grpSpPr>
          <p:sp>
            <p:nvSpPr>
              <p:cNvPr id="397" name="Google Shape;397;p26"/>
              <p:cNvSpPr/>
              <p:nvPr/>
            </p:nvSpPr>
            <p:spPr>
              <a:xfrm>
                <a:off x="0" y="0"/>
                <a:ext cx="26193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26"/>
              <p:cNvSpPr txBox="1"/>
              <p:nvPr/>
            </p:nvSpPr>
            <p:spPr>
              <a:xfrm>
                <a:off x="0" y="0"/>
                <a:ext cx="26193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94A3B8"/>
                    </a:solidFill>
                    <a:latin typeface="Arial"/>
                    <a:ea typeface="Arial"/>
                    <a:cs typeface="Arial"/>
                    <a:sym typeface="Arial"/>
                  </a:rPr>
                  <a:t>search.tcl</a:t>
                </a:r>
                <a:endParaRPr b="1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9" name="Google Shape;399;p26"/>
            <p:cNvGrpSpPr/>
            <p:nvPr/>
          </p:nvGrpSpPr>
          <p:grpSpPr>
            <a:xfrm>
              <a:off x="238125" y="571500"/>
              <a:ext cx="3667200" cy="2381400"/>
              <a:chOff x="0" y="0"/>
              <a:chExt cx="3667200" cy="2381400"/>
            </a:xfrm>
          </p:grpSpPr>
          <p:sp>
            <p:nvSpPr>
              <p:cNvPr id="400" name="Google Shape;400;p26"/>
              <p:cNvSpPr/>
              <p:nvPr/>
            </p:nvSpPr>
            <p:spPr>
              <a:xfrm>
                <a:off x="0" y="0"/>
                <a:ext cx="3667200" cy="2381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26"/>
              <p:cNvSpPr txBox="1"/>
              <p:nvPr/>
            </p:nvSpPr>
            <p:spPr>
              <a:xfrm>
                <a:off x="0" y="0"/>
                <a:ext cx="3667200" cy="23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#Program to find an element in array</a:t>
                </a:r>
                <a:endParaRPr b="1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set</a:t>
                </a:r>
                <a:r>
                  <a:rPr b="1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array1(0) </a:t>
                </a:r>
                <a:r>
                  <a:rPr b="1" lang="en" sz="10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</a:t>
                </a:r>
                <a:r>
                  <a:rPr b="1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; </a:t>
                </a:r>
                <a:r>
                  <a:rPr b="1" lang="en" sz="1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set</a:t>
                </a:r>
                <a:r>
                  <a:rPr b="1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array1(1) </a:t>
                </a:r>
                <a:r>
                  <a:rPr b="1" lang="en" sz="10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b</a:t>
                </a:r>
                <a:r>
                  <a:rPr b="1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; </a:t>
                </a:r>
                <a:r>
                  <a:rPr b="1" lang="en" sz="1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set</a:t>
                </a:r>
                <a:r>
                  <a:rPr b="1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array1(2) </a:t>
                </a:r>
                <a:r>
                  <a:rPr b="1" lang="en" sz="10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</a:t>
                </a:r>
                <a:endParaRPr b="1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set</a:t>
                </a:r>
                <a:r>
                  <a:rPr b="1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array1(3) </a:t>
                </a:r>
                <a:r>
                  <a:rPr b="1" lang="en" sz="10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</a:t>
                </a:r>
                <a:r>
                  <a:rPr b="1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; </a:t>
                </a:r>
                <a:r>
                  <a:rPr b="1" lang="en" sz="1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set</a:t>
                </a:r>
                <a:r>
                  <a:rPr b="1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array1(4) </a:t>
                </a:r>
                <a:r>
                  <a:rPr b="1" lang="en" sz="10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e</a:t>
                </a:r>
                <a:r>
                  <a:rPr b="1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; </a:t>
                </a:r>
                <a:r>
                  <a:rPr b="1" lang="en" sz="1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set</a:t>
                </a:r>
                <a:r>
                  <a:rPr b="1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array1(5) </a:t>
                </a:r>
                <a:r>
                  <a:rPr b="1" lang="en" sz="10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</a:t>
                </a:r>
                <a:endParaRPr b="1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set</a:t>
                </a:r>
                <a:r>
                  <a:rPr b="1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element </a:t>
                </a:r>
                <a:r>
                  <a:rPr b="1" lang="en" sz="10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</a:t>
                </a:r>
                <a:endParaRPr b="1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foreach</a:t>
                </a:r>
                <a:r>
                  <a:rPr b="1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num [</a:t>
                </a:r>
                <a:r>
                  <a:rPr b="1" lang="en" sz="1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array</a:t>
                </a:r>
                <a:r>
                  <a:rPr b="1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names array1] {</a:t>
                </a:r>
                <a:endParaRPr b="1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152400" marR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if</a:t>
                </a:r>
                <a:r>
                  <a:rPr b="1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{$array1($num) == $element} {</a:t>
                </a:r>
                <a:endParaRPr b="1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304800" marR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puts</a:t>
                </a:r>
                <a:r>
                  <a:rPr b="1" lang="en" sz="10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b="1" lang="en" sz="10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"Found : $array1($num) at index $num"</a:t>
                </a:r>
                <a:endParaRPr b="1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152400" marR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 b="1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 b="1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grpSp>
        <p:nvGrpSpPr>
          <p:cNvPr id="402" name="Google Shape;402;p26"/>
          <p:cNvGrpSpPr/>
          <p:nvPr/>
        </p:nvGrpSpPr>
        <p:grpSpPr>
          <a:xfrm>
            <a:off x="4714875" y="1285875"/>
            <a:ext cx="4143300" cy="3143400"/>
            <a:chOff x="0" y="0"/>
            <a:chExt cx="4143300" cy="3143400"/>
          </a:xfrm>
        </p:grpSpPr>
        <p:sp>
          <p:nvSpPr>
            <p:cNvPr id="403" name="Google Shape;403;p26"/>
            <p:cNvSpPr/>
            <p:nvPr/>
          </p:nvSpPr>
          <p:spPr>
            <a:xfrm>
              <a:off x="0" y="0"/>
              <a:ext cx="4143300" cy="3143400"/>
            </a:xfrm>
            <a:prstGeom prst="roundRect">
              <a:avLst>
                <a:gd fmla="val 2424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6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6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6" name="Google Shape;406;p26"/>
            <p:cNvGrpSpPr/>
            <p:nvPr/>
          </p:nvGrpSpPr>
          <p:grpSpPr>
            <a:xfrm>
              <a:off x="190500" y="0"/>
              <a:ext cx="1905000" cy="381000"/>
              <a:chOff x="0" y="0"/>
              <a:chExt cx="1905000" cy="381000"/>
            </a:xfrm>
          </p:grpSpPr>
          <p:sp>
            <p:nvSpPr>
              <p:cNvPr id="407" name="Google Shape;407;p26"/>
              <p:cNvSpPr/>
              <p:nvPr/>
            </p:nvSpPr>
            <p:spPr>
              <a:xfrm>
                <a:off x="0" y="0"/>
                <a:ext cx="1905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26"/>
              <p:cNvSpPr txBox="1"/>
              <p:nvPr/>
            </p:nvSpPr>
            <p:spPr>
              <a:xfrm>
                <a:off x="0" y="0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94A3B8"/>
                    </a:solidFill>
                    <a:latin typeface="Arial"/>
                    <a:ea typeface="Arial"/>
                    <a:cs typeface="Arial"/>
                    <a:sym typeface="Arial"/>
                  </a:rPr>
                  <a:t>Output Terminal</a:t>
                </a:r>
                <a:endParaRPr b="1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9" name="Google Shape;409;p26"/>
            <p:cNvGrpSpPr/>
            <p:nvPr/>
          </p:nvGrpSpPr>
          <p:grpSpPr>
            <a:xfrm>
              <a:off x="238125" y="571500"/>
              <a:ext cx="3667200" cy="2381400"/>
              <a:chOff x="0" y="0"/>
              <a:chExt cx="3667200" cy="2381400"/>
            </a:xfrm>
          </p:grpSpPr>
          <p:sp>
            <p:nvSpPr>
              <p:cNvPr id="410" name="Google Shape;410;p26"/>
              <p:cNvSpPr/>
              <p:nvPr/>
            </p:nvSpPr>
            <p:spPr>
              <a:xfrm>
                <a:off x="0" y="0"/>
                <a:ext cx="3667200" cy="2381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26"/>
              <p:cNvSpPr txBox="1"/>
              <p:nvPr/>
            </p:nvSpPr>
            <p:spPr>
              <a:xfrm>
                <a:off x="0" y="0"/>
                <a:ext cx="3667200" cy="23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$ tclsh search.tcl</a:t>
                </a:r>
                <a:endParaRPr sz="11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Found : d at index 3</a:t>
                </a:r>
                <a:endParaRPr sz="11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27"/>
          <p:cNvPicPr preferRelativeResize="0"/>
          <p:nvPr/>
        </p:nvPicPr>
        <p:blipFill rotWithShape="1">
          <a:blip r:embed="rId3">
            <a:alphaModFix/>
          </a:blip>
          <a:srcRect b="32367" l="21552" r="20057" t="20258"/>
          <a:stretch/>
        </p:blipFill>
        <p:spPr>
          <a:xfrm>
            <a:off x="8001000" y="0"/>
            <a:ext cx="1142999" cy="1200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7" name="Google Shape;417;p27"/>
          <p:cNvGrpSpPr/>
          <p:nvPr/>
        </p:nvGrpSpPr>
        <p:grpSpPr>
          <a:xfrm>
            <a:off x="285750" y="809625"/>
            <a:ext cx="7620000" cy="285900"/>
            <a:chOff x="0" y="0"/>
            <a:chExt cx="7620000" cy="285900"/>
          </a:xfrm>
        </p:grpSpPr>
        <p:sp>
          <p:nvSpPr>
            <p:cNvPr id="418" name="Google Shape;418;p27"/>
            <p:cNvSpPr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7"/>
            <p:cNvSpPr txBox="1"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Searching and retrieving values from key-value pairs (associative arrays) in TCL.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0" name="Google Shape;420;p27"/>
          <p:cNvSpPr txBox="1"/>
          <p:nvPr/>
        </p:nvSpPr>
        <p:spPr>
          <a:xfrm>
            <a:off x="4714875" y="4762425"/>
            <a:ext cx="436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https://github.com/Mihir-Mithani/TCL_Programing</a:t>
            </a:r>
            <a:endParaRPr/>
          </a:p>
        </p:txBody>
      </p:sp>
      <p:grpSp>
        <p:nvGrpSpPr>
          <p:cNvPr id="421" name="Google Shape;421;p27"/>
          <p:cNvGrpSpPr/>
          <p:nvPr/>
        </p:nvGrpSpPr>
        <p:grpSpPr>
          <a:xfrm>
            <a:off x="285750" y="1285875"/>
            <a:ext cx="4143300" cy="3143400"/>
            <a:chOff x="0" y="0"/>
            <a:chExt cx="4143300" cy="3143400"/>
          </a:xfrm>
        </p:grpSpPr>
        <p:sp>
          <p:nvSpPr>
            <p:cNvPr id="422" name="Google Shape;422;p27"/>
            <p:cNvSpPr/>
            <p:nvPr/>
          </p:nvSpPr>
          <p:spPr>
            <a:xfrm>
              <a:off x="0" y="0"/>
              <a:ext cx="4143300" cy="3143400"/>
            </a:xfrm>
            <a:prstGeom prst="roundRect">
              <a:avLst>
                <a:gd fmla="val 2424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7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7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7"/>
            <p:cNvSpPr/>
            <p:nvPr/>
          </p:nvSpPr>
          <p:spPr>
            <a:xfrm>
              <a:off x="7620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7"/>
            <p:cNvSpPr/>
            <p:nvPr/>
          </p:nvSpPr>
          <p:spPr>
            <a:xfrm>
              <a:off x="24765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7"/>
            <p:cNvSpPr/>
            <p:nvPr/>
          </p:nvSpPr>
          <p:spPr>
            <a:xfrm>
              <a:off x="41910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8" name="Google Shape;428;p27"/>
            <p:cNvGrpSpPr/>
            <p:nvPr/>
          </p:nvGrpSpPr>
          <p:grpSpPr>
            <a:xfrm>
              <a:off x="762000" y="0"/>
              <a:ext cx="2619300" cy="381000"/>
              <a:chOff x="0" y="0"/>
              <a:chExt cx="2619300" cy="381000"/>
            </a:xfrm>
          </p:grpSpPr>
          <p:sp>
            <p:nvSpPr>
              <p:cNvPr id="429" name="Google Shape;429;p27"/>
              <p:cNvSpPr/>
              <p:nvPr/>
            </p:nvSpPr>
            <p:spPr>
              <a:xfrm>
                <a:off x="0" y="0"/>
                <a:ext cx="26193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27"/>
              <p:cNvSpPr txBox="1"/>
              <p:nvPr/>
            </p:nvSpPr>
            <p:spPr>
              <a:xfrm>
                <a:off x="0" y="0"/>
                <a:ext cx="26193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94A3B8"/>
                    </a:solidFill>
                    <a:latin typeface="Arial"/>
                    <a:ea typeface="Arial"/>
                    <a:cs typeface="Arial"/>
                    <a:sym typeface="Arial"/>
                  </a:rPr>
                  <a:t>search_associative.tcl</a:t>
                </a:r>
                <a:endParaRPr b="1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1" name="Google Shape;431;p27"/>
            <p:cNvGrpSpPr/>
            <p:nvPr/>
          </p:nvGrpSpPr>
          <p:grpSpPr>
            <a:xfrm>
              <a:off x="238125" y="523875"/>
              <a:ext cx="3667200" cy="2476500"/>
              <a:chOff x="0" y="0"/>
              <a:chExt cx="3667200" cy="2476500"/>
            </a:xfrm>
          </p:grpSpPr>
          <p:sp>
            <p:nvSpPr>
              <p:cNvPr id="432" name="Google Shape;432;p27"/>
              <p:cNvSpPr/>
              <p:nvPr/>
            </p:nvSpPr>
            <p:spPr>
              <a:xfrm>
                <a:off x="0" y="0"/>
                <a:ext cx="3667200" cy="2476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27"/>
              <p:cNvSpPr txBox="1"/>
              <p:nvPr/>
            </p:nvSpPr>
            <p:spPr>
              <a:xfrm>
                <a:off x="0" y="0"/>
                <a:ext cx="3667200" cy="247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#associative array</a:t>
                </a:r>
                <a:endParaRPr b="1" sz="9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#students(name) -age</a:t>
                </a:r>
                <a:endParaRPr b="1" sz="9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set</a:t>
                </a:r>
                <a:r>
                  <a:rPr b="1" lang="en" sz="9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student(jacob) </a:t>
                </a:r>
                <a:r>
                  <a:rPr b="1" lang="en" sz="9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24</a:t>
                </a:r>
                <a:endParaRPr b="1" sz="9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set</a:t>
                </a:r>
                <a:r>
                  <a:rPr b="1" lang="en" sz="9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student(ryan) </a:t>
                </a:r>
                <a:r>
                  <a:rPr b="1" lang="en" sz="9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27</a:t>
                </a:r>
                <a:endParaRPr b="1" sz="9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set</a:t>
                </a:r>
                <a:r>
                  <a:rPr b="1" lang="en" sz="9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student(callie) </a:t>
                </a:r>
                <a:r>
                  <a:rPr b="1" lang="en" sz="9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27</a:t>
                </a:r>
                <a:endParaRPr b="1" sz="9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set</a:t>
                </a:r>
                <a:r>
                  <a:rPr b="1" lang="en" sz="9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student(john) </a:t>
                </a:r>
                <a:r>
                  <a:rPr b="1" lang="en" sz="9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29</a:t>
                </a:r>
                <a:endParaRPr b="1" sz="9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set</a:t>
                </a:r>
                <a:r>
                  <a:rPr b="1" lang="en" sz="9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student(yang) </a:t>
                </a:r>
                <a:r>
                  <a:rPr b="1" lang="en" sz="9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21</a:t>
                </a:r>
                <a:endParaRPr b="1" sz="9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set</a:t>
                </a:r>
                <a:r>
                  <a:rPr b="1" lang="en" sz="9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element </a:t>
                </a:r>
                <a:r>
                  <a:rPr b="1" lang="en" sz="9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callie</a:t>
                </a:r>
                <a:endParaRPr b="1" sz="9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foreach</a:t>
                </a:r>
                <a:r>
                  <a:rPr b="1" lang="en" sz="9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name [</a:t>
                </a:r>
                <a:r>
                  <a:rPr b="1" lang="en" sz="9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array</a:t>
                </a:r>
                <a:r>
                  <a:rPr b="1" lang="en" sz="9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names student] {</a:t>
                </a:r>
                <a:endParaRPr b="1" sz="9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114300" marR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if</a:t>
                </a:r>
                <a:r>
                  <a:rPr b="1" lang="en" sz="9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{ $name == $element } {</a:t>
                </a:r>
                <a:endParaRPr b="1" sz="9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228600" marR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puts</a:t>
                </a:r>
                <a:r>
                  <a:rPr b="1" lang="en" sz="9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"Name : $name"</a:t>
                </a:r>
                <a:endParaRPr b="1" sz="9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228600" marR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puts</a:t>
                </a:r>
                <a:r>
                  <a:rPr b="1" lang="en" sz="9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"Age : $student($name)"</a:t>
                </a:r>
                <a:endParaRPr b="1" sz="9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114300" marR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 b="1" sz="9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 b="1" sz="9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grpSp>
        <p:nvGrpSpPr>
          <p:cNvPr id="434" name="Google Shape;434;p27"/>
          <p:cNvGrpSpPr/>
          <p:nvPr/>
        </p:nvGrpSpPr>
        <p:grpSpPr>
          <a:xfrm>
            <a:off x="4714875" y="1285875"/>
            <a:ext cx="4143300" cy="3143400"/>
            <a:chOff x="0" y="0"/>
            <a:chExt cx="4143300" cy="3143400"/>
          </a:xfrm>
        </p:grpSpPr>
        <p:sp>
          <p:nvSpPr>
            <p:cNvPr id="435" name="Google Shape;435;p27"/>
            <p:cNvSpPr/>
            <p:nvPr/>
          </p:nvSpPr>
          <p:spPr>
            <a:xfrm>
              <a:off x="0" y="0"/>
              <a:ext cx="4143300" cy="3143400"/>
            </a:xfrm>
            <a:prstGeom prst="roundRect">
              <a:avLst>
                <a:gd fmla="val 2424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7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7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8" name="Google Shape;438;p27"/>
            <p:cNvGrpSpPr/>
            <p:nvPr/>
          </p:nvGrpSpPr>
          <p:grpSpPr>
            <a:xfrm>
              <a:off x="190500" y="0"/>
              <a:ext cx="1905000" cy="381000"/>
              <a:chOff x="0" y="0"/>
              <a:chExt cx="1905000" cy="381000"/>
            </a:xfrm>
          </p:grpSpPr>
          <p:sp>
            <p:nvSpPr>
              <p:cNvPr id="439" name="Google Shape;439;p27"/>
              <p:cNvSpPr/>
              <p:nvPr/>
            </p:nvSpPr>
            <p:spPr>
              <a:xfrm>
                <a:off x="0" y="0"/>
                <a:ext cx="1905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27"/>
              <p:cNvSpPr txBox="1"/>
              <p:nvPr/>
            </p:nvSpPr>
            <p:spPr>
              <a:xfrm>
                <a:off x="0" y="0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94A3B8"/>
                    </a:solidFill>
                    <a:latin typeface="Arial"/>
                    <a:ea typeface="Arial"/>
                    <a:cs typeface="Arial"/>
                    <a:sym typeface="Arial"/>
                  </a:rPr>
                  <a:t>Output Terminal</a:t>
                </a:r>
                <a:endParaRPr b="1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1" name="Google Shape;441;p27"/>
            <p:cNvGrpSpPr/>
            <p:nvPr/>
          </p:nvGrpSpPr>
          <p:grpSpPr>
            <a:xfrm>
              <a:off x="238125" y="571500"/>
              <a:ext cx="3667200" cy="2381400"/>
              <a:chOff x="0" y="0"/>
              <a:chExt cx="3667200" cy="2381400"/>
            </a:xfrm>
          </p:grpSpPr>
          <p:sp>
            <p:nvSpPr>
              <p:cNvPr id="442" name="Google Shape;442;p27"/>
              <p:cNvSpPr/>
              <p:nvPr/>
            </p:nvSpPr>
            <p:spPr>
              <a:xfrm>
                <a:off x="0" y="0"/>
                <a:ext cx="3667200" cy="2381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27"/>
              <p:cNvSpPr txBox="1"/>
              <p:nvPr/>
            </p:nvSpPr>
            <p:spPr>
              <a:xfrm>
                <a:off x="0" y="0"/>
                <a:ext cx="3667200" cy="23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$ tclsh search_associative.tcl</a:t>
                </a:r>
                <a:endParaRPr sz="11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Name : callie</a:t>
                </a:r>
                <a:endParaRPr b="1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338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Age : 27</a:t>
                </a:r>
                <a:endParaRPr b="1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sp>
        <p:nvSpPr>
          <p:cNvPr id="444" name="Google Shape;444;p27"/>
          <p:cNvSpPr/>
          <p:nvPr/>
        </p:nvSpPr>
        <p:spPr>
          <a:xfrm>
            <a:off x="285750" y="381000"/>
            <a:ext cx="7620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Associative Array Search</a:t>
            </a:r>
            <a:endParaRPr b="1" sz="24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28"/>
          <p:cNvPicPr preferRelativeResize="0"/>
          <p:nvPr/>
        </p:nvPicPr>
        <p:blipFill rotWithShape="1">
          <a:blip r:embed="rId3">
            <a:alphaModFix/>
          </a:blip>
          <a:srcRect b="32367" l="21552" r="20057" t="20258"/>
          <a:stretch/>
        </p:blipFill>
        <p:spPr>
          <a:xfrm>
            <a:off x="8001000" y="0"/>
            <a:ext cx="1142999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28"/>
          <p:cNvSpPr txBox="1"/>
          <p:nvPr/>
        </p:nvSpPr>
        <p:spPr>
          <a:xfrm>
            <a:off x="4714875" y="4762425"/>
            <a:ext cx="436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https://github.com/Mihir-Mithani/TCL_Programing</a:t>
            </a:r>
            <a:endParaRPr/>
          </a:p>
        </p:txBody>
      </p:sp>
      <p:grpSp>
        <p:nvGrpSpPr>
          <p:cNvPr id="451" name="Google Shape;451;p28"/>
          <p:cNvGrpSpPr/>
          <p:nvPr/>
        </p:nvGrpSpPr>
        <p:grpSpPr>
          <a:xfrm>
            <a:off x="285750" y="809625"/>
            <a:ext cx="7620000" cy="285900"/>
            <a:chOff x="0" y="0"/>
            <a:chExt cx="7620000" cy="285900"/>
          </a:xfrm>
        </p:grpSpPr>
        <p:sp>
          <p:nvSpPr>
            <p:cNvPr id="452" name="Google Shape;452;p28"/>
            <p:cNvSpPr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8"/>
            <p:cNvSpPr txBox="1"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Using the </a:t>
              </a:r>
              <a:r>
                <a:rPr b="1" lang="en" sz="1200">
                  <a:solidFill>
                    <a:srgbClr val="0F172A"/>
                  </a:solidFill>
                  <a:highlight>
                    <a:srgbClr val="E2E8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exec</a:t>
              </a:r>
              <a:r>
                <a:rPr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command to run system shell commands and capture their output in TCL.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4" name="Google Shape;454;p28"/>
          <p:cNvGrpSpPr/>
          <p:nvPr/>
        </p:nvGrpSpPr>
        <p:grpSpPr>
          <a:xfrm>
            <a:off x="285750" y="1285875"/>
            <a:ext cx="4143300" cy="3143400"/>
            <a:chOff x="0" y="0"/>
            <a:chExt cx="4143300" cy="3143400"/>
          </a:xfrm>
        </p:grpSpPr>
        <p:sp>
          <p:nvSpPr>
            <p:cNvPr id="455" name="Google Shape;455;p28"/>
            <p:cNvSpPr/>
            <p:nvPr/>
          </p:nvSpPr>
          <p:spPr>
            <a:xfrm>
              <a:off x="0" y="0"/>
              <a:ext cx="4143300" cy="3143400"/>
            </a:xfrm>
            <a:prstGeom prst="roundRect">
              <a:avLst>
                <a:gd fmla="val 2424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8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8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8"/>
            <p:cNvSpPr/>
            <p:nvPr/>
          </p:nvSpPr>
          <p:spPr>
            <a:xfrm>
              <a:off x="7620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8"/>
            <p:cNvSpPr/>
            <p:nvPr/>
          </p:nvSpPr>
          <p:spPr>
            <a:xfrm>
              <a:off x="24765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8"/>
            <p:cNvSpPr/>
            <p:nvPr/>
          </p:nvSpPr>
          <p:spPr>
            <a:xfrm>
              <a:off x="41910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8"/>
            <p:cNvSpPr txBox="1"/>
            <p:nvPr/>
          </p:nvSpPr>
          <p:spPr>
            <a:xfrm>
              <a:off x="762000" y="0"/>
              <a:ext cx="2619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exec1.tcl</a:t>
              </a:r>
              <a:endParaRPr b="1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28"/>
            <p:cNvSpPr txBox="1"/>
            <p:nvPr/>
          </p:nvSpPr>
          <p:spPr>
            <a:xfrm>
              <a:off x="238125" y="571500"/>
              <a:ext cx="36672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Run shell commands using exec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puts</a:t>
              </a: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" sz="10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"Sleeping 1sec"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exec</a:t>
              </a:r>
              <a:r>
                <a:rPr b="1" lang="en" sz="10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sleep 1s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puts</a:t>
              </a: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" sz="10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"Creating &amp; Listing files..."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exec</a:t>
              </a:r>
              <a:r>
                <a:rPr b="1" lang="en" sz="10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touch text1.txt text2.txt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set</a:t>
              </a:r>
              <a:r>
                <a:rPr b="1" lang="en" sz="10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files [ </a:t>
              </a: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exec</a:t>
              </a:r>
              <a:r>
                <a:rPr b="1" lang="en" sz="10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ls ]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puts</a:t>
              </a:r>
              <a:r>
                <a:rPr b="1" lang="en" sz="10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$files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463" name="Google Shape;463;p28"/>
          <p:cNvGrpSpPr/>
          <p:nvPr/>
        </p:nvGrpSpPr>
        <p:grpSpPr>
          <a:xfrm>
            <a:off x="4714875" y="1285875"/>
            <a:ext cx="4143300" cy="3143400"/>
            <a:chOff x="0" y="0"/>
            <a:chExt cx="4143300" cy="3143400"/>
          </a:xfrm>
        </p:grpSpPr>
        <p:sp>
          <p:nvSpPr>
            <p:cNvPr id="464" name="Google Shape;464;p28"/>
            <p:cNvSpPr/>
            <p:nvPr/>
          </p:nvSpPr>
          <p:spPr>
            <a:xfrm>
              <a:off x="0" y="0"/>
              <a:ext cx="4143300" cy="3143400"/>
            </a:xfrm>
            <a:prstGeom prst="roundRect">
              <a:avLst>
                <a:gd fmla="val 2424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8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8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8"/>
            <p:cNvSpPr txBox="1"/>
            <p:nvPr/>
          </p:nvSpPr>
          <p:spPr>
            <a:xfrm>
              <a:off x="19050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Output Terminal</a:t>
              </a:r>
              <a:endParaRPr b="1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28"/>
            <p:cNvSpPr txBox="1"/>
            <p:nvPr/>
          </p:nvSpPr>
          <p:spPr>
            <a:xfrm>
              <a:off x="238125" y="571500"/>
              <a:ext cx="36672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$ tclsh exec1.tcl</a:t>
              </a:r>
              <a:endParaRPr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Sleeping 1sec</a:t>
              </a:r>
              <a:endParaRPr b="1" sz="11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Creating &amp; Listing files...</a:t>
              </a:r>
              <a:endParaRPr b="1" sz="11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exec1.tcl</a:t>
              </a:r>
              <a:endParaRPr sz="110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text1.txt</a:t>
              </a:r>
              <a:endParaRPr sz="110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text2.txt</a:t>
              </a:r>
              <a:endParaRPr sz="110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469" name="Google Shape;469;p28"/>
          <p:cNvSpPr/>
          <p:nvPr/>
        </p:nvSpPr>
        <p:spPr>
          <a:xfrm>
            <a:off x="285750" y="381000"/>
            <a:ext cx="7620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Executing Shell Commands</a:t>
            </a:r>
            <a:endParaRPr b="1" sz="24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29"/>
          <p:cNvPicPr preferRelativeResize="0"/>
          <p:nvPr/>
        </p:nvPicPr>
        <p:blipFill rotWithShape="1">
          <a:blip r:embed="rId3">
            <a:alphaModFix/>
          </a:blip>
          <a:srcRect b="32367" l="21552" r="20057" t="20258"/>
          <a:stretch/>
        </p:blipFill>
        <p:spPr>
          <a:xfrm>
            <a:off x="8001000" y="0"/>
            <a:ext cx="1142999" cy="1200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5" name="Google Shape;475;p29"/>
          <p:cNvGrpSpPr/>
          <p:nvPr/>
        </p:nvGrpSpPr>
        <p:grpSpPr>
          <a:xfrm>
            <a:off x="285750" y="809625"/>
            <a:ext cx="7620000" cy="285900"/>
            <a:chOff x="0" y="0"/>
            <a:chExt cx="7620000" cy="285900"/>
          </a:xfrm>
        </p:grpSpPr>
        <p:sp>
          <p:nvSpPr>
            <p:cNvPr id="476" name="Google Shape;476;p29"/>
            <p:cNvSpPr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9"/>
            <p:cNvSpPr txBox="1"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Controlling character interpretation and formatting using backslash escape sequences in TCL.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8" name="Google Shape;478;p29"/>
          <p:cNvSpPr txBox="1"/>
          <p:nvPr/>
        </p:nvSpPr>
        <p:spPr>
          <a:xfrm>
            <a:off x="4714875" y="4762425"/>
            <a:ext cx="436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https://github.com/Mihir-Mithani/TCL_Programing</a:t>
            </a:r>
            <a:endParaRPr/>
          </a:p>
        </p:txBody>
      </p:sp>
      <p:grpSp>
        <p:nvGrpSpPr>
          <p:cNvPr id="479" name="Google Shape;479;p29"/>
          <p:cNvGrpSpPr/>
          <p:nvPr/>
        </p:nvGrpSpPr>
        <p:grpSpPr>
          <a:xfrm>
            <a:off x="285750" y="1285875"/>
            <a:ext cx="4143300" cy="3143400"/>
            <a:chOff x="0" y="0"/>
            <a:chExt cx="4143300" cy="3143400"/>
          </a:xfrm>
        </p:grpSpPr>
        <p:sp>
          <p:nvSpPr>
            <p:cNvPr id="480" name="Google Shape;480;p29"/>
            <p:cNvSpPr/>
            <p:nvPr/>
          </p:nvSpPr>
          <p:spPr>
            <a:xfrm>
              <a:off x="0" y="0"/>
              <a:ext cx="4143300" cy="3143400"/>
            </a:xfrm>
            <a:prstGeom prst="roundRect">
              <a:avLst>
                <a:gd fmla="val 2424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9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9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9"/>
            <p:cNvSpPr/>
            <p:nvPr/>
          </p:nvSpPr>
          <p:spPr>
            <a:xfrm>
              <a:off x="7620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9"/>
            <p:cNvSpPr/>
            <p:nvPr/>
          </p:nvSpPr>
          <p:spPr>
            <a:xfrm>
              <a:off x="24765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9"/>
            <p:cNvSpPr/>
            <p:nvPr/>
          </p:nvSpPr>
          <p:spPr>
            <a:xfrm>
              <a:off x="41910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9"/>
            <p:cNvSpPr txBox="1"/>
            <p:nvPr/>
          </p:nvSpPr>
          <p:spPr>
            <a:xfrm>
              <a:off x="762000" y="0"/>
              <a:ext cx="2619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escape.tcl</a:t>
              </a:r>
              <a:endParaRPr b="1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29"/>
            <p:cNvSpPr txBox="1"/>
            <p:nvPr/>
          </p:nvSpPr>
          <p:spPr>
            <a:xfrm>
              <a:off x="238125" y="571500"/>
              <a:ext cx="36672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Backslash substitution examples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puts</a:t>
              </a: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" sz="10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"No slash\n"</a:t>
              </a: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 </a:t>
              </a:r>
              <a:r>
                <a:rPr b="0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won't print '\n' literally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puts</a:t>
              </a: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" sz="10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"- slash n\\n"</a:t>
              </a: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 </a:t>
              </a:r>
              <a:r>
                <a:rPr b="0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prints '\n' literally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488" name="Google Shape;488;p29"/>
          <p:cNvGrpSpPr/>
          <p:nvPr/>
        </p:nvGrpSpPr>
        <p:grpSpPr>
          <a:xfrm>
            <a:off x="4714875" y="1285875"/>
            <a:ext cx="4143300" cy="3143400"/>
            <a:chOff x="0" y="0"/>
            <a:chExt cx="4143300" cy="3143400"/>
          </a:xfrm>
        </p:grpSpPr>
        <p:sp>
          <p:nvSpPr>
            <p:cNvPr id="489" name="Google Shape;489;p29"/>
            <p:cNvSpPr/>
            <p:nvPr/>
          </p:nvSpPr>
          <p:spPr>
            <a:xfrm>
              <a:off x="0" y="0"/>
              <a:ext cx="4143300" cy="3143400"/>
            </a:xfrm>
            <a:prstGeom prst="roundRect">
              <a:avLst>
                <a:gd fmla="val 2424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9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9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9"/>
            <p:cNvSpPr txBox="1"/>
            <p:nvPr/>
          </p:nvSpPr>
          <p:spPr>
            <a:xfrm>
              <a:off x="19050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Output Terminal</a:t>
              </a:r>
              <a:endParaRPr b="1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29"/>
            <p:cNvSpPr txBox="1"/>
            <p:nvPr/>
          </p:nvSpPr>
          <p:spPr>
            <a:xfrm>
              <a:off x="238125" y="571500"/>
              <a:ext cx="36672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$ tclsh escape.tcl</a:t>
              </a:r>
              <a:endParaRPr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No slash</a:t>
              </a:r>
              <a:endParaRPr sz="110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- slash n\n</a:t>
              </a:r>
              <a:endParaRPr b="1" sz="11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494" name="Google Shape;494;p29"/>
          <p:cNvSpPr/>
          <p:nvPr/>
        </p:nvSpPr>
        <p:spPr>
          <a:xfrm>
            <a:off x="285750" y="381000"/>
            <a:ext cx="7620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Backslash Substitution</a:t>
            </a:r>
            <a:endParaRPr b="1" sz="24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0"/>
          <p:cNvPicPr preferRelativeResize="0"/>
          <p:nvPr/>
        </p:nvPicPr>
        <p:blipFill rotWithShape="1">
          <a:blip r:embed="rId3">
            <a:alphaModFix/>
          </a:blip>
          <a:srcRect b="32367" l="21552" r="20057" t="20258"/>
          <a:stretch/>
        </p:blipFill>
        <p:spPr>
          <a:xfrm>
            <a:off x="8001000" y="0"/>
            <a:ext cx="1142999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0"/>
          <p:cNvSpPr/>
          <p:nvPr/>
        </p:nvSpPr>
        <p:spPr>
          <a:xfrm>
            <a:off x="285750" y="381000"/>
            <a:ext cx="7620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List</a:t>
            </a:r>
            <a:endParaRPr b="1" sz="24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01" name="Google Shape;501;p30"/>
          <p:cNvSpPr txBox="1"/>
          <p:nvPr/>
        </p:nvSpPr>
        <p:spPr>
          <a:xfrm>
            <a:off x="4714875" y="4762425"/>
            <a:ext cx="436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https://github.com/Mihir-Mithani/TCL_Programing</a:t>
            </a:r>
            <a:endParaRPr/>
          </a:p>
        </p:txBody>
      </p:sp>
      <p:grpSp>
        <p:nvGrpSpPr>
          <p:cNvPr id="502" name="Google Shape;502;p30"/>
          <p:cNvGrpSpPr/>
          <p:nvPr/>
        </p:nvGrpSpPr>
        <p:grpSpPr>
          <a:xfrm>
            <a:off x="285750" y="809625"/>
            <a:ext cx="7620000" cy="285900"/>
            <a:chOff x="0" y="0"/>
            <a:chExt cx="7620000" cy="285900"/>
          </a:xfrm>
        </p:grpSpPr>
        <p:sp>
          <p:nvSpPr>
            <p:cNvPr id="503" name="Google Shape;503;p30"/>
            <p:cNvSpPr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30"/>
            <p:cNvSpPr txBox="1"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Creating, splitting, and iterating over list structures in TCL.</a:t>
              </a:r>
              <a:endParaRPr b="0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5" name="Google Shape;505;p30"/>
          <p:cNvGrpSpPr/>
          <p:nvPr/>
        </p:nvGrpSpPr>
        <p:grpSpPr>
          <a:xfrm>
            <a:off x="285750" y="1285875"/>
            <a:ext cx="4143300" cy="3143400"/>
            <a:chOff x="0" y="0"/>
            <a:chExt cx="4143300" cy="3143400"/>
          </a:xfrm>
        </p:grpSpPr>
        <p:sp>
          <p:nvSpPr>
            <p:cNvPr id="506" name="Google Shape;506;p30"/>
            <p:cNvSpPr/>
            <p:nvPr/>
          </p:nvSpPr>
          <p:spPr>
            <a:xfrm>
              <a:off x="0" y="0"/>
              <a:ext cx="4143300" cy="3143400"/>
            </a:xfrm>
            <a:prstGeom prst="roundRect">
              <a:avLst>
                <a:gd fmla="val 2424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0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0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0"/>
            <p:cNvSpPr/>
            <p:nvPr/>
          </p:nvSpPr>
          <p:spPr>
            <a:xfrm>
              <a:off x="7620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0"/>
            <p:cNvSpPr/>
            <p:nvPr/>
          </p:nvSpPr>
          <p:spPr>
            <a:xfrm>
              <a:off x="24765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0"/>
            <p:cNvSpPr/>
            <p:nvPr/>
          </p:nvSpPr>
          <p:spPr>
            <a:xfrm>
              <a:off x="41910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2" name="Google Shape;512;p30"/>
            <p:cNvGrpSpPr/>
            <p:nvPr/>
          </p:nvGrpSpPr>
          <p:grpSpPr>
            <a:xfrm>
              <a:off x="762000" y="0"/>
              <a:ext cx="2619300" cy="381000"/>
              <a:chOff x="0" y="0"/>
              <a:chExt cx="2619300" cy="381000"/>
            </a:xfrm>
          </p:grpSpPr>
          <p:sp>
            <p:nvSpPr>
              <p:cNvPr id="513" name="Google Shape;513;p30"/>
              <p:cNvSpPr/>
              <p:nvPr/>
            </p:nvSpPr>
            <p:spPr>
              <a:xfrm>
                <a:off x="0" y="0"/>
                <a:ext cx="26193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30"/>
              <p:cNvSpPr txBox="1"/>
              <p:nvPr/>
            </p:nvSpPr>
            <p:spPr>
              <a:xfrm>
                <a:off x="0" y="0"/>
                <a:ext cx="26193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94A3B8"/>
                    </a:solidFill>
                    <a:latin typeface="Arial"/>
                    <a:ea typeface="Arial"/>
                    <a:cs typeface="Arial"/>
                    <a:sym typeface="Arial"/>
                  </a:rPr>
                  <a:t>list.tcl</a:t>
                </a:r>
                <a:endParaRPr b="1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5" name="Google Shape;515;p30"/>
            <p:cNvGrpSpPr/>
            <p:nvPr/>
          </p:nvGrpSpPr>
          <p:grpSpPr>
            <a:xfrm>
              <a:off x="238125" y="571500"/>
              <a:ext cx="3667200" cy="2381400"/>
              <a:chOff x="0" y="0"/>
              <a:chExt cx="3667200" cy="2381400"/>
            </a:xfrm>
          </p:grpSpPr>
          <p:sp>
            <p:nvSpPr>
              <p:cNvPr id="516" name="Google Shape;516;p30"/>
              <p:cNvSpPr/>
              <p:nvPr/>
            </p:nvSpPr>
            <p:spPr>
              <a:xfrm>
                <a:off x="0" y="0"/>
                <a:ext cx="3667200" cy="2381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30"/>
              <p:cNvSpPr txBox="1"/>
              <p:nvPr/>
            </p:nvSpPr>
            <p:spPr>
              <a:xfrm>
                <a:off x="0" y="0"/>
                <a:ext cx="3667200" cy="23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# Create lists using different methods</a:t>
                </a:r>
                <a:endParaRPr b="1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set</a:t>
                </a:r>
                <a:r>
                  <a:rPr b="1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lst {1 2 3}</a:t>
                </a:r>
                <a:endParaRPr b="1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set</a:t>
                </a:r>
                <a:r>
                  <a:rPr b="1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lst2 [</a:t>
                </a:r>
                <a:r>
                  <a:rPr b="1" lang="en" sz="1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split</a:t>
                </a:r>
                <a:r>
                  <a:rPr b="1" lang="en" sz="10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"a.b.c" "."</a:t>
                </a:r>
                <a:r>
                  <a:rPr b="1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]</a:t>
                </a:r>
                <a:endParaRPr b="1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set</a:t>
                </a:r>
                <a:r>
                  <a:rPr b="1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lst3 [</a:t>
                </a:r>
                <a:r>
                  <a:rPr b="1" lang="en" sz="1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list</a:t>
                </a:r>
                <a:r>
                  <a:rPr b="1" lang="en" sz="10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"hello" "world" "!!!!!"</a:t>
                </a:r>
                <a:r>
                  <a:rPr b="1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]</a:t>
                </a:r>
                <a:endParaRPr b="1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105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# Iterate and print elements</a:t>
                </a:r>
                <a:endParaRPr b="1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foreach</a:t>
                </a:r>
                <a:r>
                  <a:rPr b="1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item $lst {</a:t>
                </a:r>
                <a:r>
                  <a:rPr b="1" lang="en" sz="1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puts</a:t>
                </a:r>
                <a:r>
                  <a:rPr b="1" lang="en" sz="10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"item : $item"</a:t>
                </a:r>
                <a:r>
                  <a:rPr b="1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 b="1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foreach</a:t>
                </a:r>
                <a:r>
                  <a:rPr b="1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item $lst2 {</a:t>
                </a:r>
                <a:r>
                  <a:rPr b="1" lang="en" sz="1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puts</a:t>
                </a:r>
                <a:r>
                  <a:rPr b="1" lang="en" sz="10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"item : $item"</a:t>
                </a:r>
                <a:r>
                  <a:rPr b="1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 b="1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foreach</a:t>
                </a:r>
                <a:r>
                  <a:rPr b="1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item $lst3 {</a:t>
                </a:r>
                <a:r>
                  <a:rPr b="1" lang="en" sz="1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puts</a:t>
                </a:r>
                <a:r>
                  <a:rPr b="1" lang="en" sz="10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"item : $item"</a:t>
                </a:r>
                <a:r>
                  <a:rPr b="1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 b="1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grpSp>
        <p:nvGrpSpPr>
          <p:cNvPr id="518" name="Google Shape;518;p30"/>
          <p:cNvGrpSpPr/>
          <p:nvPr/>
        </p:nvGrpSpPr>
        <p:grpSpPr>
          <a:xfrm>
            <a:off x="4714875" y="1285875"/>
            <a:ext cx="4143300" cy="3143400"/>
            <a:chOff x="0" y="0"/>
            <a:chExt cx="4143300" cy="3143400"/>
          </a:xfrm>
        </p:grpSpPr>
        <p:sp>
          <p:nvSpPr>
            <p:cNvPr id="519" name="Google Shape;519;p30"/>
            <p:cNvSpPr/>
            <p:nvPr/>
          </p:nvSpPr>
          <p:spPr>
            <a:xfrm>
              <a:off x="0" y="0"/>
              <a:ext cx="4143300" cy="3143400"/>
            </a:xfrm>
            <a:prstGeom prst="roundRect">
              <a:avLst>
                <a:gd fmla="val 2424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0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30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2" name="Google Shape;522;p30"/>
            <p:cNvGrpSpPr/>
            <p:nvPr/>
          </p:nvGrpSpPr>
          <p:grpSpPr>
            <a:xfrm>
              <a:off x="190500" y="0"/>
              <a:ext cx="1905000" cy="381000"/>
              <a:chOff x="0" y="0"/>
              <a:chExt cx="1905000" cy="381000"/>
            </a:xfrm>
          </p:grpSpPr>
          <p:sp>
            <p:nvSpPr>
              <p:cNvPr id="523" name="Google Shape;523;p30"/>
              <p:cNvSpPr/>
              <p:nvPr/>
            </p:nvSpPr>
            <p:spPr>
              <a:xfrm>
                <a:off x="0" y="0"/>
                <a:ext cx="1905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" name="Google Shape;524;p30"/>
              <p:cNvSpPr txBox="1"/>
              <p:nvPr/>
            </p:nvSpPr>
            <p:spPr>
              <a:xfrm>
                <a:off x="0" y="0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94A3B8"/>
                    </a:solidFill>
                    <a:latin typeface="Arial"/>
                    <a:ea typeface="Arial"/>
                    <a:cs typeface="Arial"/>
                    <a:sym typeface="Arial"/>
                  </a:rPr>
                  <a:t>Output Terminal</a:t>
                </a:r>
                <a:endParaRPr b="1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5" name="Google Shape;525;p30"/>
            <p:cNvGrpSpPr/>
            <p:nvPr/>
          </p:nvGrpSpPr>
          <p:grpSpPr>
            <a:xfrm>
              <a:off x="238125" y="571500"/>
              <a:ext cx="3667200" cy="2381400"/>
              <a:chOff x="0" y="0"/>
              <a:chExt cx="3667200" cy="2381400"/>
            </a:xfrm>
          </p:grpSpPr>
          <p:sp>
            <p:nvSpPr>
              <p:cNvPr id="526" name="Google Shape;526;p30"/>
              <p:cNvSpPr/>
              <p:nvPr/>
            </p:nvSpPr>
            <p:spPr>
              <a:xfrm>
                <a:off x="0" y="0"/>
                <a:ext cx="3667200" cy="2381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30"/>
              <p:cNvSpPr txBox="1"/>
              <p:nvPr/>
            </p:nvSpPr>
            <p:spPr>
              <a:xfrm>
                <a:off x="0" y="0"/>
                <a:ext cx="3667200" cy="23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$ tclsh list.tcl</a:t>
                </a:r>
                <a:endParaRPr b="0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item : 1</a:t>
                </a:r>
                <a:br>
                  <a:rPr b="0" lang="en" sz="10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</a:br>
                <a:r>
                  <a:rPr b="0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item : 2</a:t>
                </a:r>
                <a:br>
                  <a:rPr b="0" lang="en" sz="10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</a:br>
                <a:r>
                  <a:rPr b="0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item : 3</a:t>
                </a:r>
                <a:endParaRPr b="0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item : a</a:t>
                </a:r>
                <a:br>
                  <a:rPr b="0" lang="en" sz="10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</a:br>
                <a:r>
                  <a:rPr b="0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item : b</a:t>
                </a:r>
                <a:br>
                  <a:rPr b="0" lang="en" sz="10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</a:br>
                <a:r>
                  <a:rPr b="0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item : c</a:t>
                </a:r>
                <a:endParaRPr b="0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item : hello</a:t>
                </a:r>
                <a:br>
                  <a:rPr b="0" lang="en" sz="10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</a:br>
                <a:r>
                  <a:rPr b="0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item : world</a:t>
                </a:r>
                <a:br>
                  <a:rPr b="0" lang="en" sz="10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</a:br>
                <a:r>
                  <a:rPr b="0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item : !!!!!</a:t>
                </a:r>
                <a:endParaRPr b="0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Google Shape;532;p31"/>
          <p:cNvPicPr preferRelativeResize="0"/>
          <p:nvPr/>
        </p:nvPicPr>
        <p:blipFill rotWithShape="1">
          <a:blip r:embed="rId3">
            <a:alphaModFix/>
          </a:blip>
          <a:srcRect b="32367" l="21552" r="20057" t="20258"/>
          <a:stretch/>
        </p:blipFill>
        <p:spPr>
          <a:xfrm>
            <a:off x="8001000" y="0"/>
            <a:ext cx="1142999" cy="1200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3" name="Google Shape;533;p31"/>
          <p:cNvGrpSpPr/>
          <p:nvPr/>
        </p:nvGrpSpPr>
        <p:grpSpPr>
          <a:xfrm>
            <a:off x="285750" y="809625"/>
            <a:ext cx="7620000" cy="285900"/>
            <a:chOff x="0" y="0"/>
            <a:chExt cx="7620000" cy="285900"/>
          </a:xfrm>
        </p:grpSpPr>
        <p:sp>
          <p:nvSpPr>
            <p:cNvPr id="534" name="Google Shape;534;p31"/>
            <p:cNvSpPr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31"/>
            <p:cNvSpPr txBox="1"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Comparing strings lexicographically and understanding comparison results in TCL.</a:t>
              </a:r>
              <a:endParaRPr b="0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6" name="Google Shape;536;p31"/>
          <p:cNvSpPr txBox="1"/>
          <p:nvPr/>
        </p:nvSpPr>
        <p:spPr>
          <a:xfrm>
            <a:off x="4714875" y="4762425"/>
            <a:ext cx="436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https://github.com/Mihir-Mithani/TCL_Programing</a:t>
            </a:r>
            <a:endParaRPr/>
          </a:p>
        </p:txBody>
      </p:sp>
      <p:grpSp>
        <p:nvGrpSpPr>
          <p:cNvPr id="537" name="Google Shape;537;p31"/>
          <p:cNvGrpSpPr/>
          <p:nvPr/>
        </p:nvGrpSpPr>
        <p:grpSpPr>
          <a:xfrm>
            <a:off x="285750" y="1285875"/>
            <a:ext cx="4143300" cy="3143400"/>
            <a:chOff x="0" y="0"/>
            <a:chExt cx="4143300" cy="3143400"/>
          </a:xfrm>
        </p:grpSpPr>
        <p:sp>
          <p:nvSpPr>
            <p:cNvPr id="538" name="Google Shape;538;p31"/>
            <p:cNvSpPr/>
            <p:nvPr/>
          </p:nvSpPr>
          <p:spPr>
            <a:xfrm>
              <a:off x="0" y="0"/>
              <a:ext cx="4143300" cy="3143400"/>
            </a:xfrm>
            <a:prstGeom prst="roundRect">
              <a:avLst>
                <a:gd fmla="val 2424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31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1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1"/>
            <p:cNvSpPr/>
            <p:nvPr/>
          </p:nvSpPr>
          <p:spPr>
            <a:xfrm>
              <a:off x="7620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1"/>
            <p:cNvSpPr/>
            <p:nvPr/>
          </p:nvSpPr>
          <p:spPr>
            <a:xfrm>
              <a:off x="24765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1"/>
            <p:cNvSpPr/>
            <p:nvPr/>
          </p:nvSpPr>
          <p:spPr>
            <a:xfrm>
              <a:off x="41910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31"/>
            <p:cNvSpPr txBox="1"/>
            <p:nvPr/>
          </p:nvSpPr>
          <p:spPr>
            <a:xfrm>
              <a:off x="762000" y="0"/>
              <a:ext cx="2619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string_compare.tcl</a:t>
              </a:r>
              <a:endParaRPr b="1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31"/>
            <p:cNvSpPr txBox="1"/>
            <p:nvPr/>
          </p:nvSpPr>
          <p:spPr>
            <a:xfrm>
              <a:off x="238125" y="571500"/>
              <a:ext cx="36672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Lexicographical comparison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Returns 0 if equal, -1 if str1 &lt; str2, else 1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puts</a:t>
              </a: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" sz="10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</a:t>
              </a: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" sz="10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compare "Golden" "Light"</a:t>
              </a:r>
              <a:r>
                <a:rPr b="1" lang="en" sz="10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546" name="Google Shape;546;p31"/>
          <p:cNvGrpSpPr/>
          <p:nvPr/>
        </p:nvGrpSpPr>
        <p:grpSpPr>
          <a:xfrm>
            <a:off x="4714875" y="1285875"/>
            <a:ext cx="4143300" cy="3143400"/>
            <a:chOff x="0" y="0"/>
            <a:chExt cx="4143300" cy="3143400"/>
          </a:xfrm>
        </p:grpSpPr>
        <p:sp>
          <p:nvSpPr>
            <p:cNvPr id="547" name="Google Shape;547;p31"/>
            <p:cNvSpPr/>
            <p:nvPr/>
          </p:nvSpPr>
          <p:spPr>
            <a:xfrm>
              <a:off x="0" y="0"/>
              <a:ext cx="4143300" cy="3143400"/>
            </a:xfrm>
            <a:prstGeom prst="roundRect">
              <a:avLst>
                <a:gd fmla="val 2424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1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1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1"/>
            <p:cNvSpPr txBox="1"/>
            <p:nvPr/>
          </p:nvSpPr>
          <p:spPr>
            <a:xfrm>
              <a:off x="19050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Output Terminal</a:t>
              </a:r>
              <a:endParaRPr b="1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31"/>
            <p:cNvSpPr txBox="1"/>
            <p:nvPr/>
          </p:nvSpPr>
          <p:spPr>
            <a:xfrm>
              <a:off x="238125" y="571500"/>
              <a:ext cx="36672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$ tclsh string_compare.tcl</a:t>
              </a:r>
              <a:endParaRPr b="0"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-1</a:t>
              </a:r>
              <a:endParaRPr b="0"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552" name="Google Shape;552;p31"/>
          <p:cNvSpPr/>
          <p:nvPr/>
        </p:nvSpPr>
        <p:spPr>
          <a:xfrm>
            <a:off x="285750" y="381000"/>
            <a:ext cx="7620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String Compare</a:t>
            </a:r>
            <a:endParaRPr b="1" sz="24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7" name="Google Shape;557;p32"/>
          <p:cNvPicPr preferRelativeResize="0"/>
          <p:nvPr/>
        </p:nvPicPr>
        <p:blipFill rotWithShape="1">
          <a:blip r:embed="rId3">
            <a:alphaModFix/>
          </a:blip>
          <a:srcRect b="32367" l="21552" r="20057" t="20258"/>
          <a:stretch/>
        </p:blipFill>
        <p:spPr>
          <a:xfrm>
            <a:off x="8001000" y="0"/>
            <a:ext cx="1142999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32"/>
          <p:cNvSpPr txBox="1"/>
          <p:nvPr/>
        </p:nvSpPr>
        <p:spPr>
          <a:xfrm>
            <a:off x="4714875" y="4762425"/>
            <a:ext cx="436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https://github.com/Mihir-Mithani/TCL_Programing</a:t>
            </a:r>
            <a:endParaRPr/>
          </a:p>
        </p:txBody>
      </p:sp>
      <p:grpSp>
        <p:nvGrpSpPr>
          <p:cNvPr id="559" name="Google Shape;559;p32"/>
          <p:cNvGrpSpPr/>
          <p:nvPr/>
        </p:nvGrpSpPr>
        <p:grpSpPr>
          <a:xfrm>
            <a:off x="285750" y="809625"/>
            <a:ext cx="7620000" cy="285900"/>
            <a:chOff x="0" y="0"/>
            <a:chExt cx="7620000" cy="285900"/>
          </a:xfrm>
        </p:grpSpPr>
        <p:sp>
          <p:nvSpPr>
            <p:cNvPr id="560" name="Google Shape;560;p32"/>
            <p:cNvSpPr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2"/>
            <p:cNvSpPr txBox="1"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Retrieving the character at a specific index within a string in TCL.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2" name="Google Shape;562;p32"/>
          <p:cNvGrpSpPr/>
          <p:nvPr/>
        </p:nvGrpSpPr>
        <p:grpSpPr>
          <a:xfrm>
            <a:off x="285750" y="1285875"/>
            <a:ext cx="4143300" cy="3143400"/>
            <a:chOff x="0" y="0"/>
            <a:chExt cx="4143300" cy="3143400"/>
          </a:xfrm>
        </p:grpSpPr>
        <p:sp>
          <p:nvSpPr>
            <p:cNvPr id="563" name="Google Shape;563;p32"/>
            <p:cNvSpPr/>
            <p:nvPr/>
          </p:nvSpPr>
          <p:spPr>
            <a:xfrm>
              <a:off x="0" y="0"/>
              <a:ext cx="4143300" cy="3143400"/>
            </a:xfrm>
            <a:prstGeom prst="roundRect">
              <a:avLst>
                <a:gd fmla="val 2424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2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2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2"/>
            <p:cNvSpPr/>
            <p:nvPr/>
          </p:nvSpPr>
          <p:spPr>
            <a:xfrm>
              <a:off x="7620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2"/>
            <p:cNvSpPr/>
            <p:nvPr/>
          </p:nvSpPr>
          <p:spPr>
            <a:xfrm>
              <a:off x="24765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2"/>
            <p:cNvSpPr/>
            <p:nvPr/>
          </p:nvSpPr>
          <p:spPr>
            <a:xfrm>
              <a:off x="41910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32"/>
            <p:cNvSpPr txBox="1"/>
            <p:nvPr/>
          </p:nvSpPr>
          <p:spPr>
            <a:xfrm>
              <a:off x="762000" y="0"/>
              <a:ext cx="2619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string_index.tcl</a:t>
              </a:r>
              <a:endParaRPr b="1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32"/>
            <p:cNvSpPr txBox="1"/>
            <p:nvPr/>
          </p:nvSpPr>
          <p:spPr>
            <a:xfrm>
              <a:off x="238125" y="571500"/>
              <a:ext cx="36672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String Index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returns the character at index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puts</a:t>
              </a: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" sz="10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</a:t>
              </a: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" sz="10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index "Timing Path" 4</a:t>
              </a:r>
              <a:r>
                <a:rPr b="1" lang="en" sz="10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571" name="Google Shape;571;p32"/>
          <p:cNvGrpSpPr/>
          <p:nvPr/>
        </p:nvGrpSpPr>
        <p:grpSpPr>
          <a:xfrm>
            <a:off x="4714875" y="1285875"/>
            <a:ext cx="4143300" cy="3143400"/>
            <a:chOff x="0" y="0"/>
            <a:chExt cx="4143300" cy="3143400"/>
          </a:xfrm>
        </p:grpSpPr>
        <p:sp>
          <p:nvSpPr>
            <p:cNvPr id="572" name="Google Shape;572;p32"/>
            <p:cNvSpPr/>
            <p:nvPr/>
          </p:nvSpPr>
          <p:spPr>
            <a:xfrm>
              <a:off x="0" y="0"/>
              <a:ext cx="4143300" cy="3143400"/>
            </a:xfrm>
            <a:prstGeom prst="roundRect">
              <a:avLst>
                <a:gd fmla="val 2424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2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2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2"/>
            <p:cNvSpPr txBox="1"/>
            <p:nvPr/>
          </p:nvSpPr>
          <p:spPr>
            <a:xfrm>
              <a:off x="19050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Output Terminal</a:t>
              </a:r>
              <a:endParaRPr b="1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32"/>
            <p:cNvSpPr txBox="1"/>
            <p:nvPr/>
          </p:nvSpPr>
          <p:spPr>
            <a:xfrm>
              <a:off x="238125" y="571500"/>
              <a:ext cx="36672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$ tclsh string_index.tcl</a:t>
              </a:r>
              <a:endParaRPr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</a:t>
              </a:r>
              <a:endParaRPr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577" name="Google Shape;577;p32"/>
          <p:cNvSpPr/>
          <p:nvPr/>
        </p:nvSpPr>
        <p:spPr>
          <a:xfrm>
            <a:off x="285750" y="381000"/>
            <a:ext cx="7620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String Index</a:t>
            </a:r>
            <a:endParaRPr b="1" sz="24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2" name="Google Shape;582;p33"/>
          <p:cNvPicPr preferRelativeResize="0"/>
          <p:nvPr/>
        </p:nvPicPr>
        <p:blipFill rotWithShape="1">
          <a:blip r:embed="rId3">
            <a:alphaModFix/>
          </a:blip>
          <a:srcRect b="32367" l="21552" r="20057" t="20258"/>
          <a:stretch/>
        </p:blipFill>
        <p:spPr>
          <a:xfrm>
            <a:off x="8001000" y="0"/>
            <a:ext cx="1142999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33"/>
          <p:cNvSpPr/>
          <p:nvPr/>
        </p:nvSpPr>
        <p:spPr>
          <a:xfrm>
            <a:off x="285750" y="381000"/>
            <a:ext cx="7620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String Length</a:t>
            </a:r>
            <a:endParaRPr b="1" sz="24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84" name="Google Shape;584;p33"/>
          <p:cNvSpPr txBox="1"/>
          <p:nvPr/>
        </p:nvSpPr>
        <p:spPr>
          <a:xfrm>
            <a:off x="4714875" y="4762425"/>
            <a:ext cx="436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https://github.com/Mihir-Mithani/TCL_Programing</a:t>
            </a:r>
            <a:endParaRPr/>
          </a:p>
        </p:txBody>
      </p:sp>
      <p:grpSp>
        <p:nvGrpSpPr>
          <p:cNvPr id="585" name="Google Shape;585;p33"/>
          <p:cNvGrpSpPr/>
          <p:nvPr/>
        </p:nvGrpSpPr>
        <p:grpSpPr>
          <a:xfrm>
            <a:off x="285750" y="809625"/>
            <a:ext cx="7620000" cy="285900"/>
            <a:chOff x="0" y="0"/>
            <a:chExt cx="7620000" cy="285900"/>
          </a:xfrm>
        </p:grpSpPr>
        <p:sp>
          <p:nvSpPr>
            <p:cNvPr id="586" name="Google Shape;586;p33"/>
            <p:cNvSpPr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33"/>
            <p:cNvSpPr txBox="1"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Retrieving the length of a string in TCL.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8" name="Google Shape;588;p33"/>
          <p:cNvGrpSpPr/>
          <p:nvPr/>
        </p:nvGrpSpPr>
        <p:grpSpPr>
          <a:xfrm>
            <a:off x="285750" y="1285875"/>
            <a:ext cx="4143300" cy="3143400"/>
            <a:chOff x="0" y="0"/>
            <a:chExt cx="4143300" cy="3143400"/>
          </a:xfrm>
        </p:grpSpPr>
        <p:sp>
          <p:nvSpPr>
            <p:cNvPr id="589" name="Google Shape;589;p33"/>
            <p:cNvSpPr/>
            <p:nvPr/>
          </p:nvSpPr>
          <p:spPr>
            <a:xfrm>
              <a:off x="0" y="0"/>
              <a:ext cx="4143300" cy="3143400"/>
            </a:xfrm>
            <a:prstGeom prst="roundRect">
              <a:avLst>
                <a:gd fmla="val 2424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3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33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33"/>
            <p:cNvSpPr/>
            <p:nvPr/>
          </p:nvSpPr>
          <p:spPr>
            <a:xfrm>
              <a:off x="7620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3"/>
            <p:cNvSpPr/>
            <p:nvPr/>
          </p:nvSpPr>
          <p:spPr>
            <a:xfrm>
              <a:off x="24765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3"/>
            <p:cNvSpPr/>
            <p:nvPr/>
          </p:nvSpPr>
          <p:spPr>
            <a:xfrm>
              <a:off x="41910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95" name="Google Shape;595;p33"/>
            <p:cNvGrpSpPr/>
            <p:nvPr/>
          </p:nvGrpSpPr>
          <p:grpSpPr>
            <a:xfrm>
              <a:off x="762000" y="0"/>
              <a:ext cx="2619300" cy="381000"/>
              <a:chOff x="0" y="0"/>
              <a:chExt cx="2619300" cy="381000"/>
            </a:xfrm>
          </p:grpSpPr>
          <p:sp>
            <p:nvSpPr>
              <p:cNvPr id="596" name="Google Shape;596;p33"/>
              <p:cNvSpPr/>
              <p:nvPr/>
            </p:nvSpPr>
            <p:spPr>
              <a:xfrm>
                <a:off x="0" y="0"/>
                <a:ext cx="26193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33"/>
              <p:cNvSpPr txBox="1"/>
              <p:nvPr/>
            </p:nvSpPr>
            <p:spPr>
              <a:xfrm>
                <a:off x="0" y="0"/>
                <a:ext cx="26193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94A3B8"/>
                    </a:solidFill>
                    <a:latin typeface="Arial"/>
                    <a:ea typeface="Arial"/>
                    <a:cs typeface="Arial"/>
                    <a:sym typeface="Arial"/>
                  </a:rPr>
                  <a:t>string_length.tcl</a:t>
                </a:r>
                <a:endParaRPr b="1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98" name="Google Shape;598;p33"/>
            <p:cNvGrpSpPr/>
            <p:nvPr/>
          </p:nvGrpSpPr>
          <p:grpSpPr>
            <a:xfrm>
              <a:off x="238125" y="571500"/>
              <a:ext cx="3667200" cy="2381400"/>
              <a:chOff x="0" y="0"/>
              <a:chExt cx="3667200" cy="2381400"/>
            </a:xfrm>
          </p:grpSpPr>
          <p:sp>
            <p:nvSpPr>
              <p:cNvPr id="599" name="Google Shape;599;p33"/>
              <p:cNvSpPr/>
              <p:nvPr/>
            </p:nvSpPr>
            <p:spPr>
              <a:xfrm>
                <a:off x="0" y="0"/>
                <a:ext cx="3667200" cy="2381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33"/>
              <p:cNvSpPr txBox="1"/>
              <p:nvPr/>
            </p:nvSpPr>
            <p:spPr>
              <a:xfrm>
                <a:off x="0" y="0"/>
                <a:ext cx="3667200" cy="23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# String Length</a:t>
                </a:r>
                <a:endParaRPr b="1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# returns the length of string</a:t>
                </a:r>
                <a:endParaRPr b="1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puts</a:t>
                </a:r>
                <a:r>
                  <a:rPr b="1" lang="en" sz="10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b="1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[</a:t>
                </a:r>
                <a:r>
                  <a:rPr b="1" lang="en" sz="1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string</a:t>
                </a:r>
                <a:r>
                  <a:rPr b="1" lang="en" sz="10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b="1" lang="en" sz="10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length "Timing Path"</a:t>
                </a:r>
                <a:r>
                  <a:rPr b="1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]</a:t>
                </a:r>
                <a:endParaRPr b="1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grpSp>
        <p:nvGrpSpPr>
          <p:cNvPr id="601" name="Google Shape;601;p33"/>
          <p:cNvGrpSpPr/>
          <p:nvPr/>
        </p:nvGrpSpPr>
        <p:grpSpPr>
          <a:xfrm>
            <a:off x="4714875" y="1285875"/>
            <a:ext cx="4143300" cy="3143400"/>
            <a:chOff x="0" y="0"/>
            <a:chExt cx="4143300" cy="3143400"/>
          </a:xfrm>
        </p:grpSpPr>
        <p:sp>
          <p:nvSpPr>
            <p:cNvPr id="602" name="Google Shape;602;p33"/>
            <p:cNvSpPr/>
            <p:nvPr/>
          </p:nvSpPr>
          <p:spPr>
            <a:xfrm>
              <a:off x="0" y="0"/>
              <a:ext cx="4143300" cy="3143400"/>
            </a:xfrm>
            <a:prstGeom prst="roundRect">
              <a:avLst>
                <a:gd fmla="val 2424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33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33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05" name="Google Shape;605;p33"/>
            <p:cNvGrpSpPr/>
            <p:nvPr/>
          </p:nvGrpSpPr>
          <p:grpSpPr>
            <a:xfrm>
              <a:off x="190500" y="0"/>
              <a:ext cx="1905000" cy="381000"/>
              <a:chOff x="0" y="0"/>
              <a:chExt cx="1905000" cy="381000"/>
            </a:xfrm>
          </p:grpSpPr>
          <p:sp>
            <p:nvSpPr>
              <p:cNvPr id="606" name="Google Shape;606;p33"/>
              <p:cNvSpPr/>
              <p:nvPr/>
            </p:nvSpPr>
            <p:spPr>
              <a:xfrm>
                <a:off x="0" y="0"/>
                <a:ext cx="1905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33"/>
              <p:cNvSpPr txBox="1"/>
              <p:nvPr/>
            </p:nvSpPr>
            <p:spPr>
              <a:xfrm>
                <a:off x="0" y="0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94A3B8"/>
                    </a:solidFill>
                    <a:latin typeface="Arial"/>
                    <a:ea typeface="Arial"/>
                    <a:cs typeface="Arial"/>
                    <a:sym typeface="Arial"/>
                  </a:rPr>
                  <a:t>Output Terminal</a:t>
                </a:r>
                <a:endParaRPr b="1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08" name="Google Shape;608;p33"/>
            <p:cNvGrpSpPr/>
            <p:nvPr/>
          </p:nvGrpSpPr>
          <p:grpSpPr>
            <a:xfrm>
              <a:off x="238125" y="571500"/>
              <a:ext cx="3667200" cy="2381400"/>
              <a:chOff x="0" y="0"/>
              <a:chExt cx="3667200" cy="2381400"/>
            </a:xfrm>
          </p:grpSpPr>
          <p:sp>
            <p:nvSpPr>
              <p:cNvPr id="609" name="Google Shape;609;p33"/>
              <p:cNvSpPr/>
              <p:nvPr/>
            </p:nvSpPr>
            <p:spPr>
              <a:xfrm>
                <a:off x="0" y="0"/>
                <a:ext cx="3667200" cy="2381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33"/>
              <p:cNvSpPr txBox="1"/>
              <p:nvPr/>
            </p:nvSpPr>
            <p:spPr>
              <a:xfrm>
                <a:off x="0" y="0"/>
                <a:ext cx="3667200" cy="23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$ tclsh string_length.tcl</a:t>
                </a:r>
                <a:endParaRPr sz="11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11</a:t>
                </a:r>
                <a:endParaRPr sz="11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34"/>
          <p:cNvPicPr preferRelativeResize="0"/>
          <p:nvPr/>
        </p:nvPicPr>
        <p:blipFill rotWithShape="1">
          <a:blip r:embed="rId3">
            <a:alphaModFix/>
          </a:blip>
          <a:srcRect b="32367" l="21552" r="20057" t="20258"/>
          <a:stretch/>
        </p:blipFill>
        <p:spPr>
          <a:xfrm>
            <a:off x="8001000" y="0"/>
            <a:ext cx="1142999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34"/>
          <p:cNvSpPr/>
          <p:nvPr/>
        </p:nvSpPr>
        <p:spPr>
          <a:xfrm>
            <a:off x="285750" y="381000"/>
            <a:ext cx="7620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String Range</a:t>
            </a:r>
            <a:endParaRPr b="1" sz="24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17" name="Google Shape;617;p34"/>
          <p:cNvSpPr txBox="1"/>
          <p:nvPr/>
        </p:nvSpPr>
        <p:spPr>
          <a:xfrm>
            <a:off x="4714875" y="4762425"/>
            <a:ext cx="436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https://github.com/Mihir-Mithani/TCL_Programing</a:t>
            </a:r>
            <a:endParaRPr/>
          </a:p>
        </p:txBody>
      </p:sp>
      <p:grpSp>
        <p:nvGrpSpPr>
          <p:cNvPr id="618" name="Google Shape;618;p34"/>
          <p:cNvGrpSpPr/>
          <p:nvPr/>
        </p:nvGrpSpPr>
        <p:grpSpPr>
          <a:xfrm>
            <a:off x="285750" y="809625"/>
            <a:ext cx="7620000" cy="285900"/>
            <a:chOff x="0" y="0"/>
            <a:chExt cx="7620000" cy="285900"/>
          </a:xfrm>
        </p:grpSpPr>
        <p:sp>
          <p:nvSpPr>
            <p:cNvPr id="619" name="Google Shape;619;p34"/>
            <p:cNvSpPr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4"/>
            <p:cNvSpPr txBox="1"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Retrieving a range of characters (substring) within a string in TCL.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1" name="Google Shape;621;p34"/>
          <p:cNvGrpSpPr/>
          <p:nvPr/>
        </p:nvGrpSpPr>
        <p:grpSpPr>
          <a:xfrm>
            <a:off x="285750" y="1285875"/>
            <a:ext cx="4143300" cy="3143400"/>
            <a:chOff x="0" y="0"/>
            <a:chExt cx="4143300" cy="3143400"/>
          </a:xfrm>
        </p:grpSpPr>
        <p:sp>
          <p:nvSpPr>
            <p:cNvPr id="622" name="Google Shape;622;p34"/>
            <p:cNvSpPr/>
            <p:nvPr/>
          </p:nvSpPr>
          <p:spPr>
            <a:xfrm>
              <a:off x="0" y="0"/>
              <a:ext cx="4143300" cy="3143400"/>
            </a:xfrm>
            <a:prstGeom prst="roundRect">
              <a:avLst>
                <a:gd fmla="val 2424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34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4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34"/>
            <p:cNvSpPr/>
            <p:nvPr/>
          </p:nvSpPr>
          <p:spPr>
            <a:xfrm>
              <a:off x="7620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4"/>
            <p:cNvSpPr/>
            <p:nvPr/>
          </p:nvSpPr>
          <p:spPr>
            <a:xfrm>
              <a:off x="24765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34"/>
            <p:cNvSpPr/>
            <p:nvPr/>
          </p:nvSpPr>
          <p:spPr>
            <a:xfrm>
              <a:off x="41910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34"/>
            <p:cNvSpPr txBox="1"/>
            <p:nvPr/>
          </p:nvSpPr>
          <p:spPr>
            <a:xfrm>
              <a:off x="762000" y="0"/>
              <a:ext cx="2619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string_range.tcl</a:t>
              </a:r>
              <a:endParaRPr b="1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34"/>
            <p:cNvSpPr txBox="1"/>
            <p:nvPr/>
          </p:nvSpPr>
          <p:spPr>
            <a:xfrm>
              <a:off x="238125" y="571500"/>
              <a:ext cx="36672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String Range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returns the range of characters from index1 to index2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puts</a:t>
              </a: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" sz="10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</a:t>
              </a: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" sz="10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range "I am studying Physical Design" 2 12</a:t>
              </a:r>
              <a:r>
                <a:rPr b="1" lang="en" sz="10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630" name="Google Shape;630;p34"/>
          <p:cNvGrpSpPr/>
          <p:nvPr/>
        </p:nvGrpSpPr>
        <p:grpSpPr>
          <a:xfrm>
            <a:off x="4714875" y="1285875"/>
            <a:ext cx="4143300" cy="3143400"/>
            <a:chOff x="0" y="0"/>
            <a:chExt cx="4143300" cy="3143400"/>
          </a:xfrm>
        </p:grpSpPr>
        <p:sp>
          <p:nvSpPr>
            <p:cNvPr id="631" name="Google Shape;631;p34"/>
            <p:cNvSpPr/>
            <p:nvPr/>
          </p:nvSpPr>
          <p:spPr>
            <a:xfrm>
              <a:off x="0" y="0"/>
              <a:ext cx="4143300" cy="3143400"/>
            </a:xfrm>
            <a:prstGeom prst="roundRect">
              <a:avLst>
                <a:gd fmla="val 2424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34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34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34"/>
            <p:cNvSpPr txBox="1"/>
            <p:nvPr/>
          </p:nvSpPr>
          <p:spPr>
            <a:xfrm>
              <a:off x="19050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Output Terminal</a:t>
              </a:r>
              <a:endParaRPr b="1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34"/>
            <p:cNvSpPr txBox="1"/>
            <p:nvPr/>
          </p:nvSpPr>
          <p:spPr>
            <a:xfrm>
              <a:off x="238125" y="571500"/>
              <a:ext cx="36672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$ tclsh string_range.tcl</a:t>
              </a:r>
              <a:endParaRPr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am studying</a:t>
              </a:r>
              <a:endParaRPr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0" name="Google Shape;640;p35"/>
          <p:cNvPicPr preferRelativeResize="0"/>
          <p:nvPr/>
        </p:nvPicPr>
        <p:blipFill rotWithShape="1">
          <a:blip r:embed="rId3">
            <a:alphaModFix/>
          </a:blip>
          <a:srcRect b="32367" l="21552" r="20057" t="20258"/>
          <a:stretch/>
        </p:blipFill>
        <p:spPr>
          <a:xfrm>
            <a:off x="8001000" y="0"/>
            <a:ext cx="1142999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35"/>
          <p:cNvSpPr txBox="1"/>
          <p:nvPr/>
        </p:nvSpPr>
        <p:spPr>
          <a:xfrm>
            <a:off x="4714875" y="4762425"/>
            <a:ext cx="436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https://github.com/Mihir-Mithani/TCL_Programing</a:t>
            </a:r>
            <a:endParaRPr/>
          </a:p>
        </p:txBody>
      </p:sp>
      <p:grpSp>
        <p:nvGrpSpPr>
          <p:cNvPr id="642" name="Google Shape;642;p35"/>
          <p:cNvGrpSpPr/>
          <p:nvPr/>
        </p:nvGrpSpPr>
        <p:grpSpPr>
          <a:xfrm>
            <a:off x="285750" y="809625"/>
            <a:ext cx="7620000" cy="285900"/>
            <a:chOff x="0" y="0"/>
            <a:chExt cx="7620000" cy="285900"/>
          </a:xfrm>
        </p:grpSpPr>
        <p:sp>
          <p:nvSpPr>
            <p:cNvPr id="643" name="Google Shape;643;p35"/>
            <p:cNvSpPr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35"/>
            <p:cNvSpPr txBox="1"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Trimming trailing characters from the end of a string in TCL.</a:t>
              </a:r>
              <a:endParaRPr b="0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5" name="Google Shape;645;p35"/>
          <p:cNvGrpSpPr/>
          <p:nvPr/>
        </p:nvGrpSpPr>
        <p:grpSpPr>
          <a:xfrm>
            <a:off x="285750" y="1285875"/>
            <a:ext cx="4143300" cy="3143400"/>
            <a:chOff x="0" y="0"/>
            <a:chExt cx="4143300" cy="3143400"/>
          </a:xfrm>
        </p:grpSpPr>
        <p:sp>
          <p:nvSpPr>
            <p:cNvPr id="646" name="Google Shape;646;p35"/>
            <p:cNvSpPr/>
            <p:nvPr/>
          </p:nvSpPr>
          <p:spPr>
            <a:xfrm>
              <a:off x="0" y="0"/>
              <a:ext cx="4143300" cy="3143400"/>
            </a:xfrm>
            <a:prstGeom prst="roundRect">
              <a:avLst>
                <a:gd fmla="val 2424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35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35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35"/>
            <p:cNvSpPr/>
            <p:nvPr/>
          </p:nvSpPr>
          <p:spPr>
            <a:xfrm>
              <a:off x="7620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35"/>
            <p:cNvSpPr/>
            <p:nvPr/>
          </p:nvSpPr>
          <p:spPr>
            <a:xfrm>
              <a:off x="24765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35"/>
            <p:cNvSpPr/>
            <p:nvPr/>
          </p:nvSpPr>
          <p:spPr>
            <a:xfrm>
              <a:off x="41910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2" name="Google Shape;652;p35"/>
            <p:cNvGrpSpPr/>
            <p:nvPr/>
          </p:nvGrpSpPr>
          <p:grpSpPr>
            <a:xfrm>
              <a:off x="762000" y="0"/>
              <a:ext cx="2619300" cy="381000"/>
              <a:chOff x="0" y="0"/>
              <a:chExt cx="2619300" cy="381000"/>
            </a:xfrm>
          </p:grpSpPr>
          <p:sp>
            <p:nvSpPr>
              <p:cNvPr id="653" name="Google Shape;653;p35"/>
              <p:cNvSpPr/>
              <p:nvPr/>
            </p:nvSpPr>
            <p:spPr>
              <a:xfrm>
                <a:off x="0" y="0"/>
                <a:ext cx="26193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" name="Google Shape;654;p35"/>
              <p:cNvSpPr txBox="1"/>
              <p:nvPr/>
            </p:nvSpPr>
            <p:spPr>
              <a:xfrm>
                <a:off x="0" y="0"/>
                <a:ext cx="26193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94A3B8"/>
                    </a:solidFill>
                    <a:latin typeface="Arial"/>
                    <a:ea typeface="Arial"/>
                    <a:cs typeface="Arial"/>
                    <a:sym typeface="Arial"/>
                  </a:rPr>
                  <a:t>string_trim.tcl</a:t>
                </a:r>
                <a:endParaRPr b="1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5" name="Google Shape;655;p35"/>
            <p:cNvGrpSpPr/>
            <p:nvPr/>
          </p:nvGrpSpPr>
          <p:grpSpPr>
            <a:xfrm>
              <a:off x="238125" y="571500"/>
              <a:ext cx="3667200" cy="2381400"/>
              <a:chOff x="0" y="0"/>
              <a:chExt cx="3667200" cy="2381400"/>
            </a:xfrm>
          </p:grpSpPr>
          <p:sp>
            <p:nvSpPr>
              <p:cNvPr id="656" name="Google Shape;656;p35"/>
              <p:cNvSpPr/>
              <p:nvPr/>
            </p:nvSpPr>
            <p:spPr>
              <a:xfrm>
                <a:off x="0" y="0"/>
                <a:ext cx="3667200" cy="2381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35"/>
              <p:cNvSpPr txBox="1"/>
              <p:nvPr/>
            </p:nvSpPr>
            <p:spPr>
              <a:xfrm>
                <a:off x="0" y="0"/>
                <a:ext cx="3667200" cy="23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# String Trim Right</a:t>
                </a:r>
                <a:endParaRPr b="1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# trims characters in set from right end</a:t>
                </a:r>
                <a:endParaRPr b="1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set</a:t>
                </a:r>
                <a:r>
                  <a:rPr b="1" lang="en" sz="10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b="1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s1 "VLSI DESIGN ENGINEERING"</a:t>
                </a:r>
                <a:endParaRPr b="1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set</a:t>
                </a:r>
                <a:r>
                  <a:rPr b="1" lang="en" sz="10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b="1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s2 "DESIGN"</a:t>
                </a:r>
                <a:endParaRPr b="1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puts</a:t>
                </a:r>
                <a:r>
                  <a:rPr b="1" lang="en" sz="10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b="1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[</a:t>
                </a:r>
                <a:r>
                  <a:rPr b="1" lang="en" sz="1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string</a:t>
                </a:r>
                <a:r>
                  <a:rPr b="1" lang="en" sz="10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b="1" lang="en" sz="10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trimright $s1 $s2</a:t>
                </a:r>
                <a:r>
                  <a:rPr b="1" lang="en" sz="10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]</a:t>
                </a:r>
                <a:endParaRPr b="1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grpSp>
        <p:nvGrpSpPr>
          <p:cNvPr id="658" name="Google Shape;658;p35"/>
          <p:cNvGrpSpPr/>
          <p:nvPr/>
        </p:nvGrpSpPr>
        <p:grpSpPr>
          <a:xfrm>
            <a:off x="4714875" y="1285875"/>
            <a:ext cx="4143300" cy="3143400"/>
            <a:chOff x="0" y="0"/>
            <a:chExt cx="4143300" cy="3143400"/>
          </a:xfrm>
        </p:grpSpPr>
        <p:sp>
          <p:nvSpPr>
            <p:cNvPr id="659" name="Google Shape;659;p35"/>
            <p:cNvSpPr/>
            <p:nvPr/>
          </p:nvSpPr>
          <p:spPr>
            <a:xfrm>
              <a:off x="0" y="0"/>
              <a:ext cx="4143300" cy="3143400"/>
            </a:xfrm>
            <a:prstGeom prst="roundRect">
              <a:avLst>
                <a:gd fmla="val 2424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35"/>
            <p:cNvSpPr/>
            <p:nvPr/>
          </p:nvSpPr>
          <p:spPr>
            <a:xfrm>
              <a:off x="0" y="0"/>
              <a:ext cx="4143300" cy="3810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35"/>
            <p:cNvSpPr/>
            <p:nvPr/>
          </p:nvSpPr>
          <p:spPr>
            <a:xfrm>
              <a:off x="0" y="285750"/>
              <a:ext cx="4143300" cy="954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62" name="Google Shape;662;p35"/>
            <p:cNvGrpSpPr/>
            <p:nvPr/>
          </p:nvGrpSpPr>
          <p:grpSpPr>
            <a:xfrm>
              <a:off x="190500" y="0"/>
              <a:ext cx="1905000" cy="381000"/>
              <a:chOff x="0" y="0"/>
              <a:chExt cx="1905000" cy="381000"/>
            </a:xfrm>
          </p:grpSpPr>
          <p:sp>
            <p:nvSpPr>
              <p:cNvPr id="663" name="Google Shape;663;p35"/>
              <p:cNvSpPr/>
              <p:nvPr/>
            </p:nvSpPr>
            <p:spPr>
              <a:xfrm>
                <a:off x="0" y="0"/>
                <a:ext cx="1905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35"/>
              <p:cNvSpPr txBox="1"/>
              <p:nvPr/>
            </p:nvSpPr>
            <p:spPr>
              <a:xfrm>
                <a:off x="0" y="0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94A3B8"/>
                    </a:solidFill>
                    <a:latin typeface="Arial"/>
                    <a:ea typeface="Arial"/>
                    <a:cs typeface="Arial"/>
                    <a:sym typeface="Arial"/>
                  </a:rPr>
                  <a:t>Output Terminal</a:t>
                </a:r>
                <a:endParaRPr b="1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65" name="Google Shape;665;p35"/>
            <p:cNvGrpSpPr/>
            <p:nvPr/>
          </p:nvGrpSpPr>
          <p:grpSpPr>
            <a:xfrm>
              <a:off x="238125" y="571500"/>
              <a:ext cx="3667200" cy="2381400"/>
              <a:chOff x="0" y="0"/>
              <a:chExt cx="3667200" cy="2381400"/>
            </a:xfrm>
          </p:grpSpPr>
          <p:sp>
            <p:nvSpPr>
              <p:cNvPr id="666" name="Google Shape;666;p35"/>
              <p:cNvSpPr/>
              <p:nvPr/>
            </p:nvSpPr>
            <p:spPr>
              <a:xfrm>
                <a:off x="0" y="0"/>
                <a:ext cx="3667200" cy="2381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" name="Google Shape;667;p35"/>
              <p:cNvSpPr txBox="1"/>
              <p:nvPr/>
            </p:nvSpPr>
            <p:spPr>
              <a:xfrm>
                <a:off x="0" y="0"/>
                <a:ext cx="3667200" cy="23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$ tclsh string_trim.tcl</a:t>
                </a:r>
                <a:endParaRPr b="0" sz="11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VLSI DESIGN ENGINEER</a:t>
                </a:r>
                <a:endParaRPr b="0" sz="11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sp>
        <p:nvSpPr>
          <p:cNvPr id="668" name="Google Shape;668;p35"/>
          <p:cNvSpPr/>
          <p:nvPr/>
        </p:nvSpPr>
        <p:spPr>
          <a:xfrm>
            <a:off x="285750" y="381000"/>
            <a:ext cx="7620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String Trim Right</a:t>
            </a:r>
            <a:endParaRPr b="1" sz="24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36"/>
          <p:cNvPicPr preferRelativeResize="0"/>
          <p:nvPr/>
        </p:nvPicPr>
        <p:blipFill rotWithShape="1">
          <a:blip r:embed="rId3">
            <a:alphaModFix/>
          </a:blip>
          <a:srcRect b="32367" l="21552" r="20057" t="20258"/>
          <a:stretch/>
        </p:blipFill>
        <p:spPr>
          <a:xfrm>
            <a:off x="8001000" y="0"/>
            <a:ext cx="1142999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36"/>
          <p:cNvSpPr/>
          <p:nvPr/>
        </p:nvSpPr>
        <p:spPr>
          <a:xfrm>
            <a:off x="144839" y="226270"/>
            <a:ext cx="8178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Topic</a:t>
            </a:r>
            <a:endParaRPr b="1" i="0" sz="1100" u="none" cap="none" strike="noStrike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75" name="Google Shape;675;p36"/>
          <p:cNvSpPr txBox="1"/>
          <p:nvPr/>
        </p:nvSpPr>
        <p:spPr>
          <a:xfrm>
            <a:off x="4714875" y="4762425"/>
            <a:ext cx="436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https://github.com/Mihir-Mithani/TCL_Programing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0" name="Google Shape;680;p37"/>
          <p:cNvPicPr preferRelativeResize="0"/>
          <p:nvPr/>
        </p:nvPicPr>
        <p:blipFill rotWithShape="1">
          <a:blip r:embed="rId3">
            <a:alphaModFix/>
          </a:blip>
          <a:srcRect b="32367" l="21552" r="20057" t="20258"/>
          <a:stretch/>
        </p:blipFill>
        <p:spPr>
          <a:xfrm>
            <a:off x="8001000" y="0"/>
            <a:ext cx="1142999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37"/>
          <p:cNvSpPr/>
          <p:nvPr/>
        </p:nvSpPr>
        <p:spPr>
          <a:xfrm>
            <a:off x="144839" y="226270"/>
            <a:ext cx="8178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Topic</a:t>
            </a:r>
            <a:endParaRPr b="1" i="0" sz="1100" u="none" cap="none" strike="noStrike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82" name="Google Shape;682;p37"/>
          <p:cNvSpPr txBox="1"/>
          <p:nvPr/>
        </p:nvSpPr>
        <p:spPr>
          <a:xfrm>
            <a:off x="4714875" y="4762425"/>
            <a:ext cx="436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https://github.com/Mihir-Mithani/TCL_Programing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7" name="Google Shape;687;p38"/>
          <p:cNvPicPr preferRelativeResize="0"/>
          <p:nvPr/>
        </p:nvPicPr>
        <p:blipFill rotWithShape="1">
          <a:blip r:embed="rId3">
            <a:alphaModFix/>
          </a:blip>
          <a:srcRect b="32367" l="21552" r="20057" t="20258"/>
          <a:stretch/>
        </p:blipFill>
        <p:spPr>
          <a:xfrm>
            <a:off x="8001000" y="0"/>
            <a:ext cx="1142999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38"/>
          <p:cNvSpPr/>
          <p:nvPr/>
        </p:nvSpPr>
        <p:spPr>
          <a:xfrm>
            <a:off x="144839" y="226270"/>
            <a:ext cx="8178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Topic</a:t>
            </a:r>
            <a:endParaRPr b="1" i="0" sz="1100" u="none" cap="none" strike="noStrike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89" name="Google Shape;689;p38"/>
          <p:cNvSpPr txBox="1"/>
          <p:nvPr/>
        </p:nvSpPr>
        <p:spPr>
          <a:xfrm>
            <a:off x="4714875" y="4762425"/>
            <a:ext cx="436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https://github.com/Mihir-Mithani/TCL_Programing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4" name="Google Shape;694;p39"/>
          <p:cNvPicPr preferRelativeResize="0"/>
          <p:nvPr/>
        </p:nvPicPr>
        <p:blipFill rotWithShape="1">
          <a:blip r:embed="rId3">
            <a:alphaModFix/>
          </a:blip>
          <a:srcRect b="32367" l="21552" r="20057" t="20258"/>
          <a:stretch/>
        </p:blipFill>
        <p:spPr>
          <a:xfrm>
            <a:off x="8001000" y="0"/>
            <a:ext cx="1142999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39"/>
          <p:cNvSpPr/>
          <p:nvPr/>
        </p:nvSpPr>
        <p:spPr>
          <a:xfrm>
            <a:off x="144839" y="226270"/>
            <a:ext cx="8178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Topic</a:t>
            </a:r>
            <a:endParaRPr b="1" i="0" sz="1100" u="none" cap="none" strike="noStrike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96" name="Google Shape;696;p39"/>
          <p:cNvSpPr txBox="1"/>
          <p:nvPr/>
        </p:nvSpPr>
        <p:spPr>
          <a:xfrm>
            <a:off x="4714875" y="4762425"/>
            <a:ext cx="436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https://github.com/Mihir-Mithani/TCL_Programing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40"/>
          <p:cNvPicPr preferRelativeResize="0"/>
          <p:nvPr/>
        </p:nvPicPr>
        <p:blipFill rotWithShape="1">
          <a:blip r:embed="rId3">
            <a:alphaModFix/>
          </a:blip>
          <a:srcRect b="32367" l="21552" r="20057" t="20258"/>
          <a:stretch/>
        </p:blipFill>
        <p:spPr>
          <a:xfrm>
            <a:off x="8001000" y="0"/>
            <a:ext cx="1142999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40"/>
          <p:cNvSpPr/>
          <p:nvPr/>
        </p:nvSpPr>
        <p:spPr>
          <a:xfrm>
            <a:off x="144839" y="226270"/>
            <a:ext cx="8178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Topic</a:t>
            </a:r>
            <a:endParaRPr b="1" i="0" sz="1100" u="none" cap="none" strike="noStrike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03" name="Google Shape;703;p40"/>
          <p:cNvSpPr txBox="1"/>
          <p:nvPr/>
        </p:nvSpPr>
        <p:spPr>
          <a:xfrm>
            <a:off x="4714875" y="4762425"/>
            <a:ext cx="436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https://github.com/Mihir-Mithani/TCL_Programing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8" name="Google Shape;708;p41"/>
          <p:cNvPicPr preferRelativeResize="0"/>
          <p:nvPr/>
        </p:nvPicPr>
        <p:blipFill rotWithShape="1">
          <a:blip r:embed="rId3">
            <a:alphaModFix/>
          </a:blip>
          <a:srcRect b="32367" l="21552" r="20057" t="20258"/>
          <a:stretch/>
        </p:blipFill>
        <p:spPr>
          <a:xfrm>
            <a:off x="8001000" y="0"/>
            <a:ext cx="1142999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41"/>
          <p:cNvSpPr/>
          <p:nvPr/>
        </p:nvSpPr>
        <p:spPr>
          <a:xfrm>
            <a:off x="144839" y="226270"/>
            <a:ext cx="8178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Topic</a:t>
            </a:r>
            <a:endParaRPr b="1" i="0" sz="1100" u="none" cap="none" strike="noStrike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10" name="Google Shape;710;p41"/>
          <p:cNvSpPr txBox="1"/>
          <p:nvPr/>
        </p:nvSpPr>
        <p:spPr>
          <a:xfrm>
            <a:off x="4714875" y="4762425"/>
            <a:ext cx="436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https://github.com/Mihir-Mithani/TCL_Programing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5" name="Google Shape;715;p42"/>
          <p:cNvPicPr preferRelativeResize="0"/>
          <p:nvPr/>
        </p:nvPicPr>
        <p:blipFill rotWithShape="1">
          <a:blip r:embed="rId3">
            <a:alphaModFix/>
          </a:blip>
          <a:srcRect b="32367" l="21552" r="20057" t="20258"/>
          <a:stretch/>
        </p:blipFill>
        <p:spPr>
          <a:xfrm>
            <a:off x="8001000" y="0"/>
            <a:ext cx="1142999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42"/>
          <p:cNvSpPr/>
          <p:nvPr/>
        </p:nvSpPr>
        <p:spPr>
          <a:xfrm>
            <a:off x="144839" y="226270"/>
            <a:ext cx="8178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Topic</a:t>
            </a:r>
            <a:endParaRPr b="1" i="0" sz="1100" u="none" cap="none" strike="noStrike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17" name="Google Shape;717;p42"/>
          <p:cNvSpPr txBox="1"/>
          <p:nvPr/>
        </p:nvSpPr>
        <p:spPr>
          <a:xfrm>
            <a:off x="4714875" y="4762425"/>
            <a:ext cx="436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https://github.com/Mihir-Mithani/TCL_Programing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